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8288000" cy="10287000"/>
  <p:notesSz cx="18288000" cy="10287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52" d="100"/>
          <a:sy n="52" d="100"/>
        </p:scale>
        <p:origin x="778" y="58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371600" y="3195641"/>
            <a:ext cx="15544800" cy="2205037"/>
          </a:xfrm>
        </p:spPr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444626" y="6610351"/>
            <a:ext cx="15544800" cy="2043111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1444626" y="4360069"/>
            <a:ext cx="15544800" cy="225027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914400" y="2400300"/>
            <a:ext cx="8077199" cy="678894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9296399" y="2400300"/>
            <a:ext cx="8077199" cy="678894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914400" y="2302669"/>
            <a:ext cx="8080375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914400" y="3262311"/>
            <a:ext cx="8080375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9290059" y="2302669"/>
            <a:ext cx="8083549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9290059" y="3262311"/>
            <a:ext cx="8083549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/>
            </a:fld>
            <a:endParaRPr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/>
            </a:fld>
            <a:endParaRPr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/>
            </a:fld>
            <a:endParaRPr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914409" y="409573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7150099" y="409579"/>
            <a:ext cx="10223499" cy="87796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914409" y="2152656"/>
            <a:ext cx="6016626" cy="70365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584575" y="7200901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3584575" y="919161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584575" y="8051009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13258800" y="411959"/>
            <a:ext cx="4114800" cy="8777287"/>
          </a:xfrm>
        </p:spPr>
        <p:txBody>
          <a:bodyPr vert="eaVert"/>
          <a:lstStyle>
            <a:lvl1pPr algn="l">
              <a:defRPr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914400" y="411959"/>
            <a:ext cx="12039599" cy="8777287"/>
          </a:xfrm>
        </p:spPr>
        <p:txBody>
          <a:bodyPr vert="eaVert"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hape 1058"/>
          <p:cNvSpPr>
            <a:spLocks noChangeArrowheads="1" noGrp="1"/>
          </p:cNvSpPr>
          <p:nvPr userDrawn="1"/>
        </p:nvSpPr>
        <p:spPr bwMode="auto">
          <a:xfrm>
            <a:off x="0" y="3"/>
            <a:ext cx="18288000" cy="102584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30392"/>
                </a:moveTo>
                <a:lnTo>
                  <a:pt x="0" y="30392"/>
                </a:lnTo>
                <a:cubicBezTo>
                  <a:pt x="0" y="30392"/>
                  <a:pt x="30246" y="52055"/>
                  <a:pt x="43200" y="35131"/>
                </a:cubicBezTo>
                <a:lnTo>
                  <a:pt x="43200" y="0"/>
                </a:lnTo>
                <a:lnTo>
                  <a:pt x="0" y="0"/>
                </a:lnTo>
                <a:lnTo>
                  <a:pt x="0" y="30392"/>
                </a:ln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" name="Shape 1059"/>
          <p:cNvSpPr>
            <a:spLocks noChangeArrowheads="1" noGrp="1"/>
          </p:cNvSpPr>
          <p:nvPr userDrawn="1"/>
        </p:nvSpPr>
        <p:spPr bwMode="auto">
          <a:xfrm>
            <a:off x="0" y="3"/>
            <a:ext cx="18288000" cy="1025842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30392"/>
                </a:moveTo>
                <a:lnTo>
                  <a:pt x="-22" y="30392"/>
                </a:lnTo>
                <a:cubicBezTo>
                  <a:pt x="-22" y="30392"/>
                  <a:pt x="30330" y="52055"/>
                  <a:pt x="43245" y="35131"/>
                </a:cubicBezTo>
              </a:path>
            </a:pathLst>
          </a:custGeom>
          <a:solidFill>
            <a:srgbClr val="FFFFFF"/>
          </a:solidFill>
          <a:ln w="7560">
            <a:solidFill>
              <a:srgbClr val="FFFFFF"/>
            </a:solidFill>
            <a:round/>
            <a:headEnd/>
            <a:tailEnd/>
          </a:ln>
        </p:spPr>
      </p:sp>
      <p:sp>
        <p:nvSpPr>
          <p:cNvPr id="9" name="Shape 1060"/>
          <p:cNvSpPr>
            <a:spLocks noChangeArrowheads="1" noGrp="1"/>
          </p:cNvSpPr>
          <p:nvPr userDrawn="1"/>
        </p:nvSpPr>
        <p:spPr bwMode="auto">
          <a:xfrm>
            <a:off x="0" y="3"/>
            <a:ext cx="18288000" cy="1025842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9977"/>
                </a:moveTo>
                <a:lnTo>
                  <a:pt x="-22" y="29977"/>
                </a:lnTo>
                <a:cubicBezTo>
                  <a:pt x="-22" y="29977"/>
                  <a:pt x="29238" y="51595"/>
                  <a:pt x="43239" y="32973"/>
                </a:cubicBezTo>
              </a:path>
            </a:pathLst>
          </a:custGeom>
          <a:solidFill>
            <a:srgbClr val="FFFFFF"/>
          </a:solidFill>
          <a:ln w="6930">
            <a:solidFill>
              <a:srgbClr val="FFFFFF">
                <a:alpha val="0"/>
              </a:srgbClr>
            </a:solidFill>
            <a:round/>
            <a:headEnd/>
            <a:tailEnd/>
          </a:ln>
        </p:spPr>
      </p:sp>
      <p:sp>
        <p:nvSpPr>
          <p:cNvPr id="10" name="Shape 1061"/>
          <p:cNvSpPr>
            <a:spLocks noChangeArrowheads="1" noGrp="1"/>
          </p:cNvSpPr>
          <p:nvPr userDrawn="1"/>
        </p:nvSpPr>
        <p:spPr bwMode="auto">
          <a:xfrm>
            <a:off x="0" y="3"/>
            <a:ext cx="18288000" cy="1025842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9562"/>
                </a:moveTo>
                <a:lnTo>
                  <a:pt x="-22" y="29562"/>
                </a:lnTo>
                <a:cubicBezTo>
                  <a:pt x="-22" y="29562"/>
                  <a:pt x="28147" y="51135"/>
                  <a:pt x="43233" y="30816"/>
                </a:cubicBezTo>
              </a:path>
            </a:pathLst>
          </a:custGeom>
          <a:solidFill>
            <a:srgbClr val="FFFFFF"/>
          </a:solidFill>
          <a:ln w="6300">
            <a:solidFill>
              <a:srgbClr val="FFFFFF">
                <a:alpha val="77254"/>
              </a:srgbClr>
            </a:solidFill>
            <a:round/>
            <a:headEnd/>
            <a:tailEnd/>
          </a:ln>
        </p:spPr>
      </p:sp>
      <p:sp>
        <p:nvSpPr>
          <p:cNvPr id="11" name="Shape 1062"/>
          <p:cNvSpPr>
            <a:spLocks noChangeArrowheads="1" noGrp="1"/>
          </p:cNvSpPr>
          <p:nvPr userDrawn="1"/>
        </p:nvSpPr>
        <p:spPr bwMode="auto">
          <a:xfrm>
            <a:off x="0" y="3"/>
            <a:ext cx="18288000" cy="1025842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9147"/>
                </a:moveTo>
                <a:lnTo>
                  <a:pt x="-22" y="29147"/>
                </a:lnTo>
                <a:cubicBezTo>
                  <a:pt x="-22" y="29147"/>
                  <a:pt x="27056" y="50675"/>
                  <a:pt x="43228" y="28658"/>
                </a:cubicBezTo>
              </a:path>
            </a:pathLst>
          </a:custGeom>
          <a:solidFill>
            <a:srgbClr val="FFFFFF"/>
          </a:solidFill>
          <a:ln w="5670">
            <a:solidFill>
              <a:srgbClr val="FFFFFF">
                <a:alpha val="65882"/>
              </a:srgbClr>
            </a:solidFill>
            <a:round/>
            <a:headEnd/>
            <a:tailEnd/>
          </a:ln>
        </p:spPr>
      </p:sp>
      <p:sp>
        <p:nvSpPr>
          <p:cNvPr id="12" name="Shape 1063"/>
          <p:cNvSpPr>
            <a:spLocks noChangeArrowheads="1" noGrp="1"/>
          </p:cNvSpPr>
          <p:nvPr userDrawn="1"/>
        </p:nvSpPr>
        <p:spPr bwMode="auto">
          <a:xfrm>
            <a:off x="0" y="3"/>
            <a:ext cx="18288000" cy="1025842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8733"/>
                </a:moveTo>
                <a:lnTo>
                  <a:pt x="-22" y="28733"/>
                </a:lnTo>
                <a:cubicBezTo>
                  <a:pt x="-22" y="28733"/>
                  <a:pt x="25965" y="50214"/>
                  <a:pt x="43222" y="26500"/>
                </a:cubicBezTo>
              </a:path>
            </a:pathLst>
          </a:custGeom>
          <a:solidFill>
            <a:srgbClr val="FFFFFF"/>
          </a:solidFill>
          <a:ln w="5040">
            <a:solidFill>
              <a:srgbClr val="FFFFFF">
                <a:alpha val="54900"/>
              </a:srgbClr>
            </a:solidFill>
            <a:round/>
            <a:headEnd/>
            <a:tailEnd/>
          </a:ln>
        </p:spPr>
      </p:sp>
      <p:sp>
        <p:nvSpPr>
          <p:cNvPr id="13" name="Shape 1064"/>
          <p:cNvSpPr>
            <a:spLocks noChangeArrowheads="1" noGrp="1"/>
          </p:cNvSpPr>
          <p:nvPr userDrawn="1"/>
        </p:nvSpPr>
        <p:spPr bwMode="auto">
          <a:xfrm>
            <a:off x="0" y="3"/>
            <a:ext cx="18288000" cy="1025842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8319"/>
                </a:moveTo>
                <a:lnTo>
                  <a:pt x="-22" y="28319"/>
                </a:lnTo>
                <a:cubicBezTo>
                  <a:pt x="-22" y="28319"/>
                  <a:pt x="24873" y="49754"/>
                  <a:pt x="43216" y="24342"/>
                </a:cubicBezTo>
              </a:path>
            </a:pathLst>
          </a:custGeom>
          <a:solidFill>
            <a:srgbClr val="FFFFFF"/>
          </a:solidFill>
          <a:ln w="4410">
            <a:solidFill>
              <a:srgbClr val="FFFFFF">
                <a:alpha val="43529"/>
              </a:srgbClr>
            </a:solidFill>
            <a:round/>
            <a:headEnd/>
            <a:tailEnd/>
          </a:ln>
        </p:spPr>
      </p:sp>
      <p:sp>
        <p:nvSpPr>
          <p:cNvPr id="14" name="Shape 1065"/>
          <p:cNvSpPr>
            <a:spLocks noChangeArrowheads="1" noGrp="1"/>
          </p:cNvSpPr>
          <p:nvPr userDrawn="1"/>
        </p:nvSpPr>
        <p:spPr bwMode="auto">
          <a:xfrm>
            <a:off x="0" y="3"/>
            <a:ext cx="18288000" cy="1025842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7904"/>
                </a:moveTo>
                <a:lnTo>
                  <a:pt x="-22" y="27904"/>
                </a:lnTo>
                <a:cubicBezTo>
                  <a:pt x="-22" y="27904"/>
                  <a:pt x="23782" y="49294"/>
                  <a:pt x="43211" y="22185"/>
                </a:cubicBezTo>
              </a:path>
            </a:pathLst>
          </a:custGeom>
          <a:solidFill>
            <a:srgbClr val="FFFFFF"/>
          </a:solidFill>
          <a:ln w="3780">
            <a:solidFill>
              <a:srgbClr val="FFFFFF">
                <a:alpha val="32156"/>
              </a:srgbClr>
            </a:solidFill>
            <a:round/>
            <a:headEnd/>
            <a:tailEnd/>
          </a:ln>
        </p:spPr>
      </p:sp>
      <p:sp>
        <p:nvSpPr>
          <p:cNvPr id="15" name="Shape 1066"/>
          <p:cNvSpPr>
            <a:spLocks noChangeArrowheads="1" noGrp="1"/>
          </p:cNvSpPr>
          <p:nvPr userDrawn="1"/>
        </p:nvSpPr>
        <p:spPr bwMode="auto">
          <a:xfrm>
            <a:off x="0" y="3"/>
            <a:ext cx="18288000" cy="1025842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7489"/>
                </a:moveTo>
                <a:lnTo>
                  <a:pt x="-22" y="27489"/>
                </a:lnTo>
                <a:cubicBezTo>
                  <a:pt x="-22" y="27489"/>
                  <a:pt x="22691" y="48834"/>
                  <a:pt x="43205" y="20027"/>
                </a:cubicBezTo>
              </a:path>
            </a:pathLst>
          </a:custGeom>
          <a:solidFill>
            <a:srgbClr val="FFFFFF"/>
          </a:solidFill>
          <a:ln w="3150">
            <a:solidFill>
              <a:srgbClr val="FFFFFF">
                <a:alpha val="21176"/>
              </a:srgbClr>
            </a:solidFill>
            <a:round/>
            <a:headEnd/>
            <a:tailEnd/>
          </a:ln>
        </p:spPr>
      </p:sp>
      <p:sp>
        <p:nvSpPr>
          <p:cNvPr id="16" name="Shape 1067"/>
          <p:cNvSpPr>
            <a:spLocks noChangeArrowheads="1" noGrp="1"/>
          </p:cNvSpPr>
          <p:nvPr userDrawn="1"/>
        </p:nvSpPr>
        <p:spPr bwMode="auto">
          <a:xfrm>
            <a:off x="0" y="3"/>
            <a:ext cx="18288000" cy="1025842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7075"/>
                </a:moveTo>
                <a:lnTo>
                  <a:pt x="-22" y="27075"/>
                </a:lnTo>
                <a:cubicBezTo>
                  <a:pt x="-22" y="27075"/>
                  <a:pt x="21600" y="48374"/>
                  <a:pt x="43200" y="17869"/>
                </a:cubicBezTo>
              </a:path>
            </a:pathLst>
          </a:custGeom>
          <a:solidFill>
            <a:srgbClr val="FFFFFF"/>
          </a:solidFill>
          <a:ln w="2520">
            <a:solidFill>
              <a:srgbClr val="FFFFFF">
                <a:alpha val="9803"/>
              </a:srgbClr>
            </a:solidFill>
            <a:round/>
            <a:headEnd/>
            <a:tailEnd/>
          </a:ln>
        </p:spPr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914400" y="2400300"/>
            <a:ext cx="16459200" cy="6788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914400" y="9534528"/>
            <a:ext cx="4267199" cy="5476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328A2AD-CA6C-4CEE-80DD-5B3591997DB0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6248399" y="9534528"/>
            <a:ext cx="5791199" cy="5476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3106398" y="9534528"/>
            <a:ext cx="4267199" cy="5476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F5014F7-E485-415F-A69C-6237A648DEF6}" type="slidenum">
              <a:rPr/>
              <a:t/>
            </a:fld>
            <a:endParaRPr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ts val="0"/>
        </a:spcBef>
        <a:buNone/>
        <a:defRPr sz="44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724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 bwMode="auto">
          <a:xfrm>
            <a:off x="1814833" y="284141"/>
            <a:ext cx="13768348" cy="1351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47"/>
              </a:lnSpc>
              <a:defRPr/>
            </a:pPr>
            <a:r>
              <a:rPr lang="en-US" sz="2550" spc="50">
                <a:solidFill>
                  <a:srgbClr val="F0F0EE">
                    <a:alpha val="66667"/>
                  </a:srgbClr>
                </a:solidFill>
                <a:latin typeface="Alegreya Sans SC Black"/>
              </a:rPr>
              <a:t>МИНИСТЕРСТВО ОБРАЗОВАНИЯ </a:t>
            </a:r>
            <a:r>
              <a:rPr lang="ru-RU" sz="2550" spc="50">
                <a:solidFill>
                  <a:srgbClr val="F0F0EE">
                    <a:alpha val="66667"/>
                  </a:srgbClr>
                </a:solidFill>
                <a:latin typeface="Alegreya Sans SC Black"/>
              </a:rPr>
              <a:t>И МОЛОДЕЖНОЙ ПОЛИТИКИ</a:t>
            </a:r>
            <a:r>
              <a:rPr lang="en-US" sz="2550" spc="50">
                <a:solidFill>
                  <a:srgbClr val="F0F0EE">
                    <a:alpha val="66667"/>
                  </a:srgbClr>
                </a:solidFill>
                <a:latin typeface="Alegreya Sans SC Black"/>
              </a:rPr>
              <a:t> СВЕРДЛОВСКОЙ ОБЛАСТИ</a:t>
            </a:r>
            <a:endParaRPr/>
          </a:p>
          <a:p>
            <a:pPr>
              <a:lnSpc>
                <a:spcPts val="3547"/>
              </a:lnSpc>
              <a:defRPr/>
            </a:pPr>
            <a:r>
              <a:rPr lang="en-US" sz="2550" spc="50">
                <a:solidFill>
                  <a:srgbClr val="F0F0EE">
                    <a:alpha val="66667"/>
                  </a:srgbClr>
                </a:solidFill>
                <a:latin typeface="Alegreya Sans SC Black"/>
              </a:rPr>
              <a:t> ГАПОУ СО «ЕКАТЕРИНБУРГСКИЙ КОЛЛЕДЖ ТРАНСПОРТНОГО СТРОИТЕЛЬСТВА»</a:t>
            </a:r>
            <a:endParaRPr/>
          </a:p>
        </p:txBody>
      </p:sp>
      <p:sp>
        <p:nvSpPr>
          <p:cNvPr id="6" name="AutoShape 6"/>
          <p:cNvSpPr/>
          <p:nvPr/>
        </p:nvSpPr>
        <p:spPr bwMode="auto">
          <a:xfrm>
            <a:off x="0" y="0"/>
            <a:ext cx="1593814" cy="159381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TextBox 7"/>
          <p:cNvSpPr txBox="1"/>
          <p:nvPr/>
        </p:nvSpPr>
        <p:spPr bwMode="auto">
          <a:xfrm>
            <a:off x="1814833" y="2651125"/>
            <a:ext cx="15057446" cy="3857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123"/>
              </a:lnSpc>
              <a:defRPr/>
            </a:pPr>
            <a:r>
              <a:rPr lang="en-US" sz="11500" b="0" i="0" u="none" strike="noStrike" cap="none" spc="-413">
                <a:solidFill>
                  <a:srgbClr val="F0F0EE"/>
                </a:solidFill>
                <a:latin typeface="Alegreya Sans SC Bold"/>
                <a:ea typeface="Alegreya Sans SC Bold"/>
                <a:cs typeface="Alegreya Sans SC Bold"/>
              </a:rPr>
              <a:t>Cоздать приложение для Производство мебели</a:t>
            </a:r>
            <a:endParaRPr lang="en-US" sz="11500" spc="-413">
              <a:solidFill>
                <a:srgbClr val="F0F0EE"/>
              </a:solidFill>
              <a:latin typeface="Alegreya Sans SC Bold Bold"/>
            </a:endParaRPr>
          </a:p>
        </p:txBody>
      </p:sp>
      <p:grpSp>
        <p:nvGrpSpPr>
          <p:cNvPr id="8" name="Group 8"/>
          <p:cNvGrpSpPr/>
          <p:nvPr/>
        </p:nvGrpSpPr>
        <p:grpSpPr bwMode="auto">
          <a:xfrm>
            <a:off x="285874" y="152169"/>
            <a:ext cx="1022067" cy="1289476"/>
            <a:chOff x="0" y="0"/>
            <a:chExt cx="1362756" cy="1719301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/>
            <a:srcRect l="0" t="10179" r="0" b="10179"/>
            <a:stretch/>
          </p:blipFill>
          <p:spPr bwMode="auto">
            <a:xfrm>
              <a:off x="0" y="0"/>
              <a:ext cx="1362756" cy="1719301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 bwMode="auto">
          <a:xfrm>
            <a:off x="1814833" y="8088093"/>
            <a:ext cx="9840537" cy="1899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39"/>
              </a:lnSpc>
              <a:spcBef>
                <a:spcPts val="0"/>
              </a:spcBef>
              <a:defRPr/>
            </a:pPr>
            <a:r>
              <a:rPr lang="en-US" sz="2650">
                <a:solidFill>
                  <a:srgbClr val="FFFFFF"/>
                </a:solidFill>
                <a:latin typeface="Trocchi"/>
              </a:rPr>
              <a:t>Работу</a:t>
            </a:r>
            <a:r>
              <a:rPr lang="en-US" sz="2650">
                <a:solidFill>
                  <a:srgbClr val="FFFFFF"/>
                </a:solidFill>
                <a:latin typeface="Trocchi"/>
              </a:rPr>
              <a:t> </a:t>
            </a:r>
            <a:r>
              <a:rPr lang="en-US" sz="2650">
                <a:solidFill>
                  <a:srgbClr val="FFFFFF"/>
                </a:solidFill>
                <a:latin typeface="Trocchi"/>
              </a:rPr>
              <a:t>выполнил</a:t>
            </a:r>
            <a:r>
              <a:rPr lang="en-US" sz="2650">
                <a:solidFill>
                  <a:srgbClr val="FFFFFF"/>
                </a:solidFill>
                <a:latin typeface="Trocchi"/>
              </a:rPr>
              <a:t>ле</a:t>
            </a:r>
            <a:r>
              <a:rPr lang="en-US" sz="2650">
                <a:solidFill>
                  <a:srgbClr val="FFFFFF"/>
                </a:solidFill>
                <a:latin typeface="Trocchi"/>
              </a:rPr>
              <a:t>: </a:t>
            </a:r>
            <a:r>
              <a:rPr lang="en-US" sz="2650">
                <a:solidFill>
                  <a:srgbClr val="FFFFFF"/>
                </a:solidFill>
                <a:latin typeface="Trocchi"/>
              </a:rPr>
              <a:t>Шенгальс Р.Е.</a:t>
            </a:r>
            <a:endParaRPr/>
          </a:p>
          <a:p>
            <a:pPr>
              <a:lnSpc>
                <a:spcPts val="3739"/>
              </a:lnSpc>
              <a:spcBef>
                <a:spcPts val="0"/>
              </a:spcBef>
              <a:defRPr/>
            </a:pPr>
            <a:r>
              <a:rPr lang="en-US" sz="2650">
                <a:solidFill>
                  <a:srgbClr val="FFFFFF"/>
                </a:solidFill>
                <a:latin typeface="Trocchi"/>
              </a:rPr>
              <a:t>Руководитель</a:t>
            </a:r>
            <a:r>
              <a:rPr lang="en-US" sz="2650">
                <a:solidFill>
                  <a:srgbClr val="FFFFFF"/>
                </a:solidFill>
                <a:latin typeface="Trocchi"/>
              </a:rPr>
              <a:t>: </a:t>
            </a:r>
            <a:r>
              <a:rPr lang="ru-RU" sz="2650">
                <a:solidFill>
                  <a:srgbClr val="FFFFFF"/>
                </a:solidFill>
                <a:latin typeface="Trocchi"/>
              </a:rPr>
              <a:t>Мирошниченко Г.В.</a:t>
            </a:r>
            <a:endParaRPr lang="en-US" sz="2650">
              <a:solidFill>
                <a:srgbClr val="FFFFFF"/>
              </a:solidFill>
              <a:latin typeface="Trocchi"/>
            </a:endParaRPr>
          </a:p>
          <a:p>
            <a:pPr>
              <a:lnSpc>
                <a:spcPts val="3739"/>
              </a:lnSpc>
              <a:spcBef>
                <a:spcPts val="0"/>
              </a:spcBef>
              <a:defRPr/>
            </a:pPr>
            <a:r>
              <a:rPr lang="en-US" sz="2650">
                <a:solidFill>
                  <a:srgbClr val="FFFFFF"/>
                </a:solidFill>
                <a:latin typeface="Trocchi"/>
              </a:rPr>
              <a:t>Группа</a:t>
            </a:r>
            <a:r>
              <a:rPr lang="en-US" sz="2650">
                <a:solidFill>
                  <a:srgbClr val="FFFFFF"/>
                </a:solidFill>
                <a:latin typeface="Trocchi"/>
              </a:rPr>
              <a:t>: Пр-33</a:t>
            </a:r>
            <a:endParaRPr/>
          </a:p>
          <a:p>
            <a:pPr>
              <a:lnSpc>
                <a:spcPts val="3739"/>
              </a:lnSpc>
              <a:spcBef>
                <a:spcPts val="0"/>
              </a:spcBef>
              <a:defRPr/>
            </a:pPr>
            <a:endParaRPr/>
          </a:p>
        </p:txBody>
      </p:sp>
      <p:grpSp>
        <p:nvGrpSpPr>
          <p:cNvPr id="11" name="Group 11"/>
          <p:cNvGrpSpPr/>
          <p:nvPr/>
        </p:nvGrpSpPr>
        <p:grpSpPr bwMode="auto">
          <a:xfrm>
            <a:off x="0" y="7522183"/>
            <a:ext cx="7541480" cy="448676"/>
            <a:chOff x="0" y="0"/>
            <a:chExt cx="9605948" cy="571500"/>
          </a:xfrm>
        </p:grpSpPr>
        <p:sp>
          <p:nvSpPr>
            <p:cNvPr id="12" name="Freeform 12"/>
            <p:cNvSpPr/>
            <p:nvPr/>
          </p:nvSpPr>
          <p:spPr bwMode="auto"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 fill="norm" stroke="1" extrusionOk="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EFF0F2"/>
            </a:solidFill>
          </p:spPr>
        </p:sp>
      </p:grpSp>
      <p:grpSp>
        <p:nvGrpSpPr>
          <p:cNvPr id="13" name="Group 13"/>
          <p:cNvGrpSpPr/>
          <p:nvPr/>
        </p:nvGrpSpPr>
        <p:grpSpPr bwMode="auto">
          <a:xfrm>
            <a:off x="5169456" y="7522183"/>
            <a:ext cx="7541480" cy="448676"/>
            <a:chOff x="0" y="0"/>
            <a:chExt cx="9605948" cy="571500"/>
          </a:xfrm>
        </p:grpSpPr>
        <p:sp>
          <p:nvSpPr>
            <p:cNvPr id="14" name="Freeform 14"/>
            <p:cNvSpPr/>
            <p:nvPr/>
          </p:nvSpPr>
          <p:spPr bwMode="auto"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 fill="norm" stroke="1" extrusionOk="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EFF0F2"/>
            </a:solid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724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 bwMode="auto">
          <a:xfrm>
            <a:off x="3479103" y="568524"/>
            <a:ext cx="11330150" cy="956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27"/>
              </a:lnSpc>
              <a:defRPr/>
            </a:pPr>
            <a:r>
              <a:rPr lang="en-US" sz="6850">
                <a:solidFill>
                  <a:srgbClr val="F0F0EE"/>
                </a:solidFill>
                <a:latin typeface="HK Grotesk Bold"/>
              </a:rPr>
              <a:t>О разработке</a:t>
            </a:r>
            <a:endParaRPr/>
          </a:p>
        </p:txBody>
      </p:sp>
      <p:sp>
        <p:nvSpPr>
          <p:cNvPr id="4" name="AutoShape 4"/>
          <p:cNvSpPr/>
          <p:nvPr/>
        </p:nvSpPr>
        <p:spPr bwMode="auto">
          <a:xfrm>
            <a:off x="8218291" y="6562048"/>
            <a:ext cx="1918289" cy="1802520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5" name="AutoShape 5"/>
          <p:cNvSpPr/>
          <p:nvPr/>
        </p:nvSpPr>
        <p:spPr bwMode="auto">
          <a:xfrm>
            <a:off x="12962365" y="6562048"/>
            <a:ext cx="1918289" cy="1802520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6" name="AutoShape 6"/>
          <p:cNvSpPr/>
          <p:nvPr/>
        </p:nvSpPr>
        <p:spPr bwMode="auto">
          <a:xfrm>
            <a:off x="3495038" y="6562048"/>
            <a:ext cx="1918289" cy="1802520"/>
          </a:xfrm>
          <a:prstGeom prst="rect">
            <a:avLst/>
          </a:prstGeom>
          <a:solidFill>
            <a:srgbClr val="F0F0EE"/>
          </a:solidFill>
        </p:spPr>
      </p:sp>
      <p:grpSp>
        <p:nvGrpSpPr>
          <p:cNvPr id="7" name="Group 7"/>
          <p:cNvGrpSpPr/>
          <p:nvPr/>
        </p:nvGrpSpPr>
        <p:grpSpPr bwMode="auto">
          <a:xfrm>
            <a:off x="575409" y="879305"/>
            <a:ext cx="5022158" cy="298790"/>
            <a:chOff x="0" y="0"/>
            <a:chExt cx="9605948" cy="571500"/>
          </a:xfrm>
        </p:grpSpPr>
        <p:sp>
          <p:nvSpPr>
            <p:cNvPr id="8" name="Freeform 8"/>
            <p:cNvSpPr/>
            <p:nvPr/>
          </p:nvSpPr>
          <p:spPr bwMode="auto"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 fill="norm" stroke="1" extrusionOk="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EFF0F2"/>
            </a:solidFill>
          </p:spPr>
        </p:sp>
      </p:grpSp>
      <p:grpSp>
        <p:nvGrpSpPr>
          <p:cNvPr id="9" name="Group 9"/>
          <p:cNvGrpSpPr/>
          <p:nvPr/>
        </p:nvGrpSpPr>
        <p:grpSpPr bwMode="auto">
          <a:xfrm>
            <a:off x="12594142" y="879305"/>
            <a:ext cx="5195182" cy="309084"/>
            <a:chOff x="0" y="0"/>
            <a:chExt cx="9605948" cy="571500"/>
          </a:xfrm>
        </p:grpSpPr>
        <p:sp>
          <p:nvSpPr>
            <p:cNvPr id="10" name="Freeform 10"/>
            <p:cNvSpPr/>
            <p:nvPr/>
          </p:nvSpPr>
          <p:spPr bwMode="auto"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 fill="norm" stroke="1" extrusionOk="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EFF0F2"/>
            </a:solidFill>
          </p:spPr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818653" y="6804241"/>
            <a:ext cx="1271061" cy="1355798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431401" y="6823076"/>
            <a:ext cx="1533712" cy="1318131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3151024" y="6856548"/>
            <a:ext cx="1450878" cy="1145633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 bwMode="auto">
          <a:xfrm>
            <a:off x="1703903" y="2106712"/>
            <a:ext cx="15027582" cy="356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Разработанное приложение представляет собой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мобильное Android-приложение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, предназначенное для упрощения и автоматизации пользовательских процессов.</a:t>
            </a:r>
            <a:endParaRPr sz="2800">
              <a:solidFill>
                <a:schemeClr val="bg1"/>
              </a:solidFill>
            </a:endParaRPr>
          </a:p>
          <a:p>
            <a:pPr algn="ctr">
              <a:lnSpc>
                <a:spcPts val="4793"/>
              </a:lnSpc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Программа создана в среде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Android Studio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и использует стандартные компоненты Android-платформы.</a:t>
            </a:r>
            <a:b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</a:b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Приложение ориентировано на удобство использования, простоту интерфейса и стабильную работу на мобильных устройствах.</a:t>
            </a:r>
            <a:endParaRPr sz="28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/>
          </a:p>
        </p:txBody>
      </p:sp>
      <p:sp>
        <p:nvSpPr>
          <p:cNvPr id="15" name="TextBox 15"/>
          <p:cNvSpPr txBox="1"/>
          <p:nvPr/>
        </p:nvSpPr>
        <p:spPr bwMode="auto">
          <a:xfrm>
            <a:off x="2532849" y="8711346"/>
            <a:ext cx="3843027" cy="569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defRPr/>
            </a:pPr>
            <a:r>
              <a:rPr lang="en-US" sz="3200">
                <a:solidFill>
                  <a:srgbClr val="F0F0EE"/>
                </a:solidFill>
                <a:latin typeface="HK Grotesk Light Bold"/>
              </a:rPr>
              <a:t>Основной учет </a:t>
            </a:r>
            <a:endParaRPr/>
          </a:p>
        </p:txBody>
      </p:sp>
      <p:sp>
        <p:nvSpPr>
          <p:cNvPr id="16" name="TextBox 16"/>
          <p:cNvSpPr txBox="1"/>
          <p:nvPr/>
        </p:nvSpPr>
        <p:spPr bwMode="auto">
          <a:xfrm>
            <a:off x="7256101" y="8711346"/>
            <a:ext cx="3843027" cy="569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defRPr/>
            </a:pPr>
            <a:r>
              <a:rPr lang="en-US" sz="3200">
                <a:solidFill>
                  <a:srgbClr val="F0F0EE"/>
                </a:solidFill>
                <a:latin typeface="HK Grotesk Light Bold"/>
              </a:rPr>
              <a:t>Система</a:t>
            </a:r>
            <a:endParaRPr/>
          </a:p>
        </p:txBody>
      </p:sp>
      <p:sp>
        <p:nvSpPr>
          <p:cNvPr id="17" name="TextBox 17"/>
          <p:cNvSpPr txBox="1"/>
          <p:nvPr/>
        </p:nvSpPr>
        <p:spPr bwMode="auto">
          <a:xfrm>
            <a:off x="12000177" y="8711346"/>
            <a:ext cx="3843027" cy="569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defRPr/>
            </a:pPr>
            <a:r>
              <a:rPr lang="en-US" sz="3200">
                <a:solidFill>
                  <a:srgbClr val="F0F0EE"/>
                </a:solidFill>
                <a:latin typeface="HK Grotesk Light Bold"/>
              </a:rPr>
              <a:t>Картотека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724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 bwMode="auto">
          <a:xfrm>
            <a:off x="388720" y="693276"/>
            <a:ext cx="11150709" cy="1081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510"/>
              </a:lnSpc>
              <a:defRPr/>
            </a:pPr>
            <a:r>
              <a:rPr lang="en-US" sz="8500" spc="-170">
                <a:solidFill>
                  <a:srgbClr val="F0F0EE"/>
                </a:solidFill>
                <a:latin typeface="HK Grotesk Bold"/>
              </a:rPr>
              <a:t>Цели и задачи проекта</a:t>
            </a:r>
            <a:endParaRPr/>
          </a:p>
        </p:txBody>
      </p:sp>
      <p:sp>
        <p:nvSpPr>
          <p:cNvPr id="4" name="TextBox 4"/>
          <p:cNvSpPr txBox="1"/>
          <p:nvPr/>
        </p:nvSpPr>
        <p:spPr bwMode="auto">
          <a:xfrm>
            <a:off x="388719" y="2523684"/>
            <a:ext cx="11967041" cy="137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30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Разработка мобильного Android-приложения с удобным и понятным пользовательским интерфейсом, обеспечивающего корректную обработку данных.</a:t>
            </a:r>
            <a:endParaRPr sz="3000">
              <a:solidFill>
                <a:schemeClr val="bg1"/>
              </a:solidFill>
            </a:endParaRPr>
          </a:p>
        </p:txBody>
      </p:sp>
      <p:grpSp>
        <p:nvGrpSpPr>
          <p:cNvPr id="6" name="Group 6"/>
          <p:cNvGrpSpPr/>
          <p:nvPr/>
        </p:nvGrpSpPr>
        <p:grpSpPr bwMode="auto">
          <a:xfrm>
            <a:off x="12993905" y="1447800"/>
            <a:ext cx="4684495" cy="4265395"/>
            <a:chOff x="0" y="0"/>
            <a:chExt cx="1913890" cy="1742663"/>
          </a:xfrm>
        </p:grpSpPr>
        <p:sp>
          <p:nvSpPr>
            <p:cNvPr id="7" name="Freeform 7"/>
            <p:cNvSpPr/>
            <p:nvPr/>
          </p:nvSpPr>
          <p:spPr bwMode="auto">
            <a:xfrm>
              <a:off x="0" y="0"/>
              <a:ext cx="1913890" cy="1742663"/>
            </a:xfrm>
            <a:custGeom>
              <a:avLst/>
              <a:gdLst/>
              <a:ahLst/>
              <a:cxnLst/>
              <a:rect l="l" t="t" r="r" b="b"/>
              <a:pathLst>
                <a:path w="1913890" h="1742663" fill="norm" stroke="1" extrusionOk="0">
                  <a:moveTo>
                    <a:pt x="0" y="0"/>
                  </a:moveTo>
                  <a:lnTo>
                    <a:pt x="0" y="1742663"/>
                  </a:lnTo>
                  <a:lnTo>
                    <a:pt x="1913890" y="1742663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681703"/>
                  </a:moveTo>
                  <a:lnTo>
                    <a:pt x="59690" y="1681703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681703"/>
                  </a:lnTo>
                  <a:close/>
                </a:path>
              </a:pathLst>
            </a:custGeom>
            <a:solidFill>
              <a:srgbClr val="FFFFFF">
                <a:alpha val="36862"/>
              </a:srgbClr>
            </a:solidFill>
          </p:spPr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3191343" y="1913354"/>
            <a:ext cx="4605505" cy="8373646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 bwMode="auto">
          <a:xfrm>
            <a:off x="0" y="1593064"/>
            <a:ext cx="8142231" cy="484417"/>
            <a:chOff x="0" y="0"/>
            <a:chExt cx="9605948" cy="571500"/>
          </a:xfrm>
        </p:grpSpPr>
        <p:sp>
          <p:nvSpPr>
            <p:cNvPr id="10" name="Freeform 10"/>
            <p:cNvSpPr/>
            <p:nvPr/>
          </p:nvSpPr>
          <p:spPr bwMode="auto"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 fill="norm" stroke="1" extrusionOk="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EFF0F2"/>
            </a:solidFill>
          </p:spPr>
        </p:sp>
      </p:grpSp>
      <p:sp>
        <p:nvSpPr>
          <p:cNvPr id="11" name="TextBox 11"/>
          <p:cNvSpPr txBox="1"/>
          <p:nvPr/>
        </p:nvSpPr>
        <p:spPr bwMode="auto">
          <a:xfrm>
            <a:off x="1897179" y="5852043"/>
            <a:ext cx="10677984" cy="478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2"/>
              </a:lnSpc>
              <a:spcBef>
                <a:spcPts val="0"/>
              </a:spcBef>
              <a:defRPr/>
            </a:pPr>
            <a:r>
              <a:rPr lang="en-US" sz="2700">
                <a:solidFill>
                  <a:srgbClr val="FFFFFF"/>
                </a:solidFill>
                <a:latin typeface="Trocchi"/>
              </a:rPr>
              <a:t>Изучить актуальную информацию по области данной задачи</a:t>
            </a:r>
            <a:endParaRPr/>
          </a:p>
        </p:txBody>
      </p:sp>
      <p:sp>
        <p:nvSpPr>
          <p:cNvPr id="12" name="TextBox 12"/>
          <p:cNvSpPr txBox="1"/>
          <p:nvPr/>
        </p:nvSpPr>
        <p:spPr bwMode="auto">
          <a:xfrm>
            <a:off x="1897179" y="6651907"/>
            <a:ext cx="10677984" cy="478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2"/>
              </a:lnSpc>
              <a:spcBef>
                <a:spcPts val="0"/>
              </a:spcBef>
              <a:defRPr/>
            </a:pPr>
            <a:r>
              <a:rPr lang="en-US" sz="2700">
                <a:solidFill>
                  <a:srgbClr val="FFFFFF"/>
                </a:solidFill>
                <a:latin typeface="Trocchi"/>
              </a:rPr>
              <a:t>Подобрать средства для разработки программного продукта</a:t>
            </a:r>
            <a:endParaRPr/>
          </a:p>
        </p:txBody>
      </p:sp>
      <p:sp>
        <p:nvSpPr>
          <p:cNvPr id="13" name="TextBox 13"/>
          <p:cNvSpPr txBox="1"/>
          <p:nvPr/>
        </p:nvSpPr>
        <p:spPr bwMode="auto">
          <a:xfrm>
            <a:off x="1897179" y="7399936"/>
            <a:ext cx="10677984" cy="478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2"/>
              </a:lnSpc>
              <a:spcBef>
                <a:spcPts val="0"/>
              </a:spcBef>
              <a:defRPr/>
            </a:pPr>
            <a:r>
              <a:rPr lang="en-US" sz="2700">
                <a:solidFill>
                  <a:srgbClr val="FFFFFF"/>
                </a:solidFill>
                <a:latin typeface="Trocchi"/>
              </a:rPr>
              <a:t>Подобрать наиболее удобный для пользователя дизайн</a:t>
            </a:r>
            <a:endParaRPr/>
          </a:p>
        </p:txBody>
      </p:sp>
      <p:sp>
        <p:nvSpPr>
          <p:cNvPr id="14" name="TextBox 14"/>
          <p:cNvSpPr txBox="1"/>
          <p:nvPr/>
        </p:nvSpPr>
        <p:spPr bwMode="auto">
          <a:xfrm>
            <a:off x="1897179" y="8064531"/>
            <a:ext cx="10677984" cy="95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2"/>
              </a:lnSpc>
              <a:spcBef>
                <a:spcPts val="0"/>
              </a:spcBef>
              <a:defRPr/>
            </a:pPr>
            <a:r>
              <a:rPr lang="en-US" sz="2700">
                <a:solidFill>
                  <a:srgbClr val="FFFFFF"/>
                </a:solidFill>
                <a:latin typeface="Trocchi"/>
              </a:rPr>
              <a:t>Учесть требования к задаче и разработать подобранный интерфейс</a:t>
            </a:r>
            <a:endParaRPr/>
          </a:p>
        </p:txBody>
      </p:sp>
      <p:grpSp>
        <p:nvGrpSpPr>
          <p:cNvPr id="15" name="Group 15"/>
          <p:cNvGrpSpPr/>
          <p:nvPr/>
        </p:nvGrpSpPr>
        <p:grpSpPr bwMode="auto">
          <a:xfrm>
            <a:off x="1543050" y="6000164"/>
            <a:ext cx="200025" cy="200025"/>
            <a:chOff x="0" y="0"/>
            <a:chExt cx="1913890" cy="1913890"/>
          </a:xfrm>
        </p:grpSpPr>
        <p:sp>
          <p:nvSpPr>
            <p:cNvPr id="16" name="Freeform 16"/>
            <p:cNvSpPr/>
            <p:nvPr/>
          </p:nvSpPr>
          <p:spPr bwMode="auto"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 fill="norm" stroke="1" extrusionOk="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 bwMode="auto">
          <a:xfrm>
            <a:off x="1543050" y="6800029"/>
            <a:ext cx="200025" cy="200025"/>
            <a:chOff x="0" y="0"/>
            <a:chExt cx="1913890" cy="1913890"/>
          </a:xfrm>
        </p:grpSpPr>
        <p:sp>
          <p:nvSpPr>
            <p:cNvPr id="18" name="Freeform 18"/>
            <p:cNvSpPr/>
            <p:nvPr/>
          </p:nvSpPr>
          <p:spPr bwMode="auto"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 fill="norm" stroke="1" extrusionOk="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9"/>
          <p:cNvGrpSpPr/>
          <p:nvPr/>
        </p:nvGrpSpPr>
        <p:grpSpPr bwMode="auto">
          <a:xfrm>
            <a:off x="1543050" y="7548058"/>
            <a:ext cx="200025" cy="200025"/>
            <a:chOff x="0" y="0"/>
            <a:chExt cx="1913890" cy="1913890"/>
          </a:xfrm>
        </p:grpSpPr>
        <p:sp>
          <p:nvSpPr>
            <p:cNvPr id="20" name="Freeform 20"/>
            <p:cNvSpPr/>
            <p:nvPr/>
          </p:nvSpPr>
          <p:spPr bwMode="auto"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 fill="norm" stroke="1" extrusionOk="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/>
        </p:nvGrpSpPr>
        <p:grpSpPr bwMode="auto">
          <a:xfrm>
            <a:off x="1543050" y="8209965"/>
            <a:ext cx="200025" cy="200025"/>
            <a:chOff x="0" y="0"/>
            <a:chExt cx="1913890" cy="1913890"/>
          </a:xfrm>
        </p:grpSpPr>
        <p:sp>
          <p:nvSpPr>
            <p:cNvPr id="22" name="Freeform 22"/>
            <p:cNvSpPr/>
            <p:nvPr/>
          </p:nvSpPr>
          <p:spPr bwMode="auto"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 fill="norm" stroke="1" extrusionOk="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F0F0E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 bwMode="auto">
          <a:xfrm rot="0" flipH="0" flipV="0">
            <a:off x="403253" y="578728"/>
            <a:ext cx="15521716" cy="812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397"/>
              </a:lnSpc>
              <a:defRPr/>
            </a:pPr>
            <a:r>
              <a:rPr lang="en-US" sz="8100" spc="-161">
                <a:solidFill>
                  <a:schemeClr val="bg1"/>
                </a:solidFill>
                <a:latin typeface="HK Grotesk Medium Bold"/>
              </a:rPr>
              <a:t>Функциональные характеристики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254938" y="2625633"/>
            <a:ext cx="2215496" cy="1904081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75109" y="5071615"/>
            <a:ext cx="1975154" cy="1975154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512752" y="7634506"/>
            <a:ext cx="1957682" cy="1482318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 bwMode="auto">
          <a:xfrm>
            <a:off x="4835655" y="2528557"/>
            <a:ext cx="7232837" cy="533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  <a:defRPr/>
            </a:pPr>
            <a:r>
              <a:rPr lang="en-US" sz="4200" spc="-84">
                <a:solidFill>
                  <a:schemeClr val="bg1"/>
                </a:solidFill>
                <a:latin typeface="HK Grotesk Medium"/>
              </a:rPr>
              <a:t>ПРИВЛЕКАТЕЛЬНОСТЬ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5" name="TextBox 15"/>
          <p:cNvSpPr txBox="1"/>
          <p:nvPr/>
        </p:nvSpPr>
        <p:spPr bwMode="auto">
          <a:xfrm>
            <a:off x="4851445" y="3042981"/>
            <a:ext cx="10526202" cy="1506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54"/>
              </a:lnSpc>
              <a:defRPr/>
            </a:pPr>
            <a:r>
              <a:rPr lang="en-US" sz="2800" spc="56">
                <a:solidFill>
                  <a:schemeClr val="bg1"/>
                </a:solidFill>
                <a:latin typeface="HK Grotesk Light"/>
              </a:rPr>
              <a:t>Хороший интерфейс должен быть привлекательным, чтобы доставлять пользователю удовольствие при работе с программным продуктом.</a:t>
            </a:r>
            <a:endParaRPr>
              <a:solidFill>
                <a:schemeClr val="bg1"/>
              </a:solidFill>
            </a:endParaRPr>
          </a:p>
        </p:txBody>
      </p:sp>
      <p:grpSp>
        <p:nvGrpSpPr>
          <p:cNvPr id="16" name="Group 16"/>
          <p:cNvGrpSpPr/>
          <p:nvPr/>
        </p:nvGrpSpPr>
        <p:grpSpPr bwMode="auto">
          <a:xfrm>
            <a:off x="4835655" y="5121621"/>
            <a:ext cx="8891277" cy="1765265"/>
            <a:chOff x="0" y="0"/>
            <a:chExt cx="8891277" cy="1765265"/>
          </a:xfrm>
        </p:grpSpPr>
        <p:sp>
          <p:nvSpPr>
            <p:cNvPr id="17" name="TextBox 17"/>
            <p:cNvSpPr txBox="1"/>
            <p:nvPr/>
          </p:nvSpPr>
          <p:spPr bwMode="auto">
            <a:xfrm>
              <a:off x="0" y="0"/>
              <a:ext cx="8891277" cy="53375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  <a:defRPr/>
              </a:pPr>
              <a:r>
                <a:rPr lang="en-US" sz="4200" spc="-84">
                  <a:solidFill>
                    <a:schemeClr val="bg1"/>
                  </a:solidFill>
                  <a:latin typeface="HK Grotesk Medium"/>
                </a:rPr>
                <a:t>ЛАКОНИЧНОСТЬ И ПРОСТОТА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698105"/>
              <a:ext cx="8891277" cy="106715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  <a:defRPr/>
              </a:pPr>
              <a:r>
                <a:rPr lang="en-US" sz="3000" spc="60">
                  <a:solidFill>
                    <a:schemeClr val="bg1"/>
                  </a:solidFill>
                  <a:latin typeface="HK Grotesk Light"/>
                </a:rPr>
                <a:t>Интерфейс не должен быть перегружен лишней информацией.</a:t>
              </a:r>
              <a:endParaRPr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Group 19"/>
          <p:cNvGrpSpPr/>
          <p:nvPr/>
        </p:nvGrpSpPr>
        <p:grpSpPr bwMode="auto">
          <a:xfrm>
            <a:off x="4851444" y="7410276"/>
            <a:ext cx="9568916" cy="1231865"/>
            <a:chOff x="0" y="0"/>
            <a:chExt cx="9568916" cy="1231865"/>
          </a:xfrm>
        </p:grpSpPr>
        <p:sp>
          <p:nvSpPr>
            <p:cNvPr id="20" name="TextBox 20"/>
            <p:cNvSpPr txBox="1"/>
            <p:nvPr/>
          </p:nvSpPr>
          <p:spPr bwMode="auto">
            <a:xfrm>
              <a:off x="0" y="0"/>
              <a:ext cx="9566757" cy="53375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  <a:defRPr/>
              </a:pPr>
              <a:r>
                <a:rPr lang="en-US" sz="4200" spc="-84">
                  <a:solidFill>
                    <a:schemeClr val="bg1"/>
                  </a:solidFill>
                  <a:latin typeface="HK Grotesk Medium"/>
                </a:rPr>
                <a:t>СИСТЕМАТИЗАЦИЯ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1" name="TextBox 21"/>
            <p:cNvSpPr txBox="1"/>
            <p:nvPr/>
          </p:nvSpPr>
          <p:spPr bwMode="auto">
            <a:xfrm>
              <a:off x="0" y="698105"/>
              <a:ext cx="9568916" cy="5337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  <a:defRPr/>
              </a:pPr>
              <a:r>
                <a:rPr sz="3000" b="0" i="0" u="none">
                  <a:solidFill>
                    <a:schemeClr val="bg1"/>
                  </a:solidFill>
                  <a:latin typeface="Times New Roman"/>
                  <a:ea typeface="Times New Roman"/>
                  <a:cs typeface="Times New Roman"/>
                </a:rPr>
                <a:t>корректное отображение данных</a:t>
              </a:r>
              <a:endParaRPr sz="300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oup 22"/>
          <p:cNvGrpSpPr/>
          <p:nvPr/>
        </p:nvGrpSpPr>
        <p:grpSpPr bwMode="auto">
          <a:xfrm>
            <a:off x="0" y="9616558"/>
            <a:ext cx="5679201" cy="337881"/>
            <a:chOff x="0" y="0"/>
            <a:chExt cx="9605948" cy="571500"/>
          </a:xfrm>
        </p:grpSpPr>
        <p:sp>
          <p:nvSpPr>
            <p:cNvPr id="23" name="Freeform 23"/>
            <p:cNvSpPr/>
            <p:nvPr/>
          </p:nvSpPr>
          <p:spPr bwMode="auto"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 fill="norm" stroke="1" extrusionOk="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17242D"/>
            </a:solidFill>
          </p:spPr>
          <p:txBody>
            <a:bodyPr/>
            <a:p>
              <a:pPr>
                <a:defRPr/>
              </a:pPr>
              <a:endParaRPr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F0F0E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 bwMode="auto">
          <a:xfrm rot="0" flipH="0" flipV="0">
            <a:off x="498683" y="898828"/>
            <a:ext cx="13362536" cy="812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397"/>
              </a:lnSpc>
              <a:defRPr/>
            </a:pPr>
            <a:r>
              <a:rPr lang="ru-RU" sz="8100" spc="-161">
                <a:solidFill>
                  <a:schemeClr val="bg1"/>
                </a:solidFill>
                <a:latin typeface="HK Grotesk Medium Bold"/>
              </a:rPr>
              <a:t>Используемые инструменты</a:t>
            </a:r>
            <a:endParaRPr sz="8100" spc="-161">
              <a:solidFill>
                <a:schemeClr val="bg1"/>
              </a:solidFill>
              <a:latin typeface="HK Grotesk Medium Bold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670030" y="3021303"/>
            <a:ext cx="2215496" cy="1904081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90201" y="5467285"/>
            <a:ext cx="1975154" cy="1975154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927844" y="8030176"/>
            <a:ext cx="1957682" cy="1482318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 bwMode="auto">
          <a:xfrm>
            <a:off x="4076325" y="2487544"/>
            <a:ext cx="7232837" cy="533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  <a:defRPr/>
            </a:pPr>
            <a:r>
              <a:rPr lang="en-US" sz="4200" spc="-84">
                <a:solidFill>
                  <a:schemeClr val="bg1"/>
                </a:solidFill>
                <a:latin typeface="HK Grotesk Medium"/>
              </a:rPr>
              <a:t>Navigation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7" name="TextBox 17"/>
          <p:cNvSpPr txBox="1"/>
          <p:nvPr/>
        </p:nvSpPr>
        <p:spPr bwMode="auto">
          <a:xfrm>
            <a:off x="4187247" y="5977664"/>
            <a:ext cx="8890917" cy="533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  <a:defRPr/>
            </a:pPr>
            <a:r>
              <a:rPr lang="en-US" sz="4200" spc="-84">
                <a:solidFill>
                  <a:schemeClr val="bg1"/>
                </a:solidFill>
                <a:latin typeface="HK Grotesk Medium"/>
              </a:rPr>
              <a:t>ROOM</a:t>
            </a:r>
            <a:endParaRPr>
              <a:solidFill>
                <a:schemeClr val="bg1"/>
              </a:solidFill>
            </a:endParaRPr>
          </a:p>
        </p:txBody>
      </p:sp>
      <p:grpSp>
        <p:nvGrpSpPr>
          <p:cNvPr id="22" name="Group 22"/>
          <p:cNvGrpSpPr/>
          <p:nvPr/>
        </p:nvGrpSpPr>
        <p:grpSpPr bwMode="auto">
          <a:xfrm>
            <a:off x="0" y="9616558"/>
            <a:ext cx="5679201" cy="337881"/>
            <a:chOff x="0" y="0"/>
            <a:chExt cx="9605948" cy="571500"/>
          </a:xfrm>
        </p:grpSpPr>
        <p:sp>
          <p:nvSpPr>
            <p:cNvPr id="23" name="Freeform 23"/>
            <p:cNvSpPr/>
            <p:nvPr/>
          </p:nvSpPr>
          <p:spPr bwMode="auto"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 fill="norm" stroke="1" extrusionOk="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17242D"/>
            </a:solidFill>
          </p:spPr>
          <p:txBody>
            <a:bodyPr/>
            <a:p>
              <a:pPr>
                <a:defRPr/>
              </a:pPr>
              <a:endParaRPr>
                <a:solidFill>
                  <a:schemeClr val="bg1"/>
                </a:solidFill>
              </a:endParaRPr>
            </a:p>
          </p:txBody>
        </p:sp>
      </p:grpSp>
      <p:sp>
        <p:nvSpPr>
          <p:cNvPr id="220119480" name=""/>
          <p:cNvSpPr txBox="1"/>
          <p:nvPr/>
        </p:nvSpPr>
        <p:spPr bwMode="auto">
          <a:xfrm flipH="0" flipV="0">
            <a:off x="4076325" y="3153917"/>
            <a:ext cx="9002198" cy="210043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lvl="0" indent="0" algn="l" defTabSz="457200">
              <a:lnSpc>
                <a:spcPts val="39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000" b="0" i="0" u="none" strike="noStrike" cap="none" spc="56">
                <a:ln>
                  <a:noFill/>
                </a:ln>
                <a:solidFill>
                  <a:prstClr val="white"/>
                </a:solidFill>
                <a:latin typeface="Times New Roman"/>
                <a:cs typeface="Times New Roman"/>
              </a:rPr>
              <a:t>В программе есть вариант выбора интерфейса в отображении карусели (</a:t>
            </a:r>
            <a:r>
              <a:rPr lang="ru-RU" sz="3000" b="0" i="0" u="none" strike="noStrike" cap="none" spc="56">
                <a:ln>
                  <a:noFill/>
                </a:ln>
                <a:solidFill>
                  <a:prstClr val="white"/>
                </a:solidFill>
                <a:latin typeface="Times New Roman"/>
                <a:cs typeface="Times New Roman"/>
              </a:rPr>
              <a:t>Carousel</a:t>
            </a:r>
            <a:r>
              <a:rPr lang="ru-RU" sz="3000" b="0" i="0" u="none" strike="noStrike" cap="none" spc="56">
                <a:ln>
                  <a:noFill/>
                </a:ln>
                <a:solidFill>
                  <a:prstClr val="white"/>
                </a:solidFill>
                <a:latin typeface="Times New Roman"/>
                <a:cs typeface="Times New Roman"/>
              </a:rPr>
              <a:t>) — плавное </a:t>
            </a:r>
            <a:r>
              <a:rPr lang="ru-RU" sz="3000" b="0" i="0" u="none" strike="noStrike" cap="none" spc="56">
                <a:ln>
                  <a:noFill/>
                </a:ln>
                <a:solidFill>
                  <a:prstClr val="white"/>
                </a:solidFill>
                <a:latin typeface="Times New Roman"/>
                <a:cs typeface="Times New Roman"/>
              </a:rPr>
              <a:t>горизональный</a:t>
            </a:r>
            <a:r>
              <a:rPr lang="ru-RU" sz="3000" b="0" i="0" u="none" strike="noStrike" cap="none" spc="56">
                <a:ln>
                  <a:noFill/>
                </a:ln>
                <a:solidFill>
                  <a:prstClr val="white"/>
                </a:solidFill>
                <a:latin typeface="Times New Roman"/>
                <a:cs typeface="Times New Roman"/>
              </a:rPr>
              <a:t> список,</a:t>
            </a:r>
            <a:r>
              <a:rPr lang="en-US" sz="3000" b="0" i="0" u="none" strike="noStrike" cap="none" spc="56">
                <a:ln>
                  <a:noFill/>
                </a:ln>
                <a:solidFill>
                  <a:prstClr val="white"/>
                </a:solidFill>
                <a:latin typeface="Times New Roman"/>
                <a:cs typeface="Times New Roman"/>
              </a:rPr>
              <a:t> </a:t>
            </a:r>
            <a:r>
              <a:rPr lang="ru-RU" sz="3000" b="0" i="0" u="none" strike="noStrike" cap="none" spc="56">
                <a:ln>
                  <a:noFill/>
                </a:ln>
                <a:solidFill>
                  <a:prstClr val="white"/>
                </a:solidFill>
                <a:latin typeface="Times New Roman"/>
                <a:cs typeface="Times New Roman"/>
              </a:rPr>
              <a:t>и обычный список, (</a:t>
            </a:r>
            <a:r>
              <a:rPr lang="en-US" sz="3000" spc="56">
                <a:solidFill>
                  <a:prstClr val="white"/>
                </a:solidFill>
                <a:latin typeface="Times New Roman"/>
                <a:cs typeface="Times New Roman"/>
              </a:rPr>
              <a:t>RecyclerView</a:t>
            </a:r>
            <a:r>
              <a:rPr lang="ru-RU" sz="3000" b="0" i="0" u="none" strike="noStrike" cap="none" spc="56">
                <a:ln>
                  <a:noFill/>
                </a:ln>
                <a:solidFill>
                  <a:prstClr val="white"/>
                </a:solidFill>
                <a:latin typeface="Times New Roman"/>
                <a:cs typeface="Times New Roman"/>
              </a:rPr>
              <a:t>)</a:t>
            </a:r>
            <a:r>
              <a:rPr lang="en-US" sz="3000" b="0" i="0" u="none" strike="noStrike" cap="none" spc="56">
                <a:ln>
                  <a:noFill/>
                </a:ln>
                <a:solidFill>
                  <a:prstClr val="white"/>
                </a:solidFill>
                <a:latin typeface="Times New Roman"/>
                <a:cs typeface="Times New Roman"/>
              </a:rPr>
              <a:t>-</a:t>
            </a:r>
            <a:r>
              <a:rPr lang="ru-RU" sz="3000" b="0" i="0" u="none" strike="noStrike" cap="none" spc="56">
                <a:ln>
                  <a:noFill/>
                </a:ln>
                <a:solidFill>
                  <a:prstClr val="white"/>
                </a:solidFill>
                <a:latin typeface="Times New Roman"/>
                <a:cs typeface="Times New Roman"/>
              </a:rPr>
              <a:t> плавный вертикальный список</a:t>
            </a:r>
            <a:endParaRPr sz="3000" b="0" i="0" u="none" strike="noStrike" cap="none" spc="56">
              <a:ln>
                <a:noFill/>
              </a:ln>
              <a:solidFill>
                <a:prstClr val="white"/>
              </a:solidFill>
              <a:latin typeface="Times New Roman"/>
              <a:cs typeface="Times New Roman"/>
            </a:endParaRPr>
          </a:p>
        </p:txBody>
      </p:sp>
      <p:sp>
        <p:nvSpPr>
          <p:cNvPr id="1209091452" name=""/>
          <p:cNvSpPr txBox="1"/>
          <p:nvPr/>
        </p:nvSpPr>
        <p:spPr bwMode="auto">
          <a:xfrm flipH="0" flipV="0">
            <a:off x="4131628" y="6561454"/>
            <a:ext cx="8469352" cy="11586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lvl="0" indent="0" algn="l" defTabSz="457200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000" b="0" i="0" u="none" strike="noStrike" cap="none" spc="60">
                <a:ln>
                  <a:noFill/>
                </a:ln>
                <a:solidFill>
                  <a:prstClr val="white"/>
                </a:solidFill>
                <a:latin typeface="Times New Roman"/>
                <a:cs typeface="Times New Roman"/>
              </a:rPr>
              <a:t>Для хранения данных использована библиотека </a:t>
            </a:r>
            <a:r>
              <a:rPr lang="ru-RU" sz="3000" b="0" i="0" u="none" strike="noStrike" cap="none" spc="60">
                <a:ln>
                  <a:noFill/>
                </a:ln>
                <a:solidFill>
                  <a:prstClr val="white"/>
                </a:solidFill>
                <a:latin typeface="Times New Roman"/>
                <a:cs typeface="Times New Roman"/>
              </a:rPr>
              <a:t>Room</a:t>
            </a:r>
            <a:r>
              <a:rPr lang="ru-RU" sz="3000" b="0" i="0" u="none" strike="noStrike" cap="none" spc="60">
                <a:ln>
                  <a:noFill/>
                </a:ln>
                <a:solidFill>
                  <a:prstClr val="white"/>
                </a:solidFill>
                <a:latin typeface="Times New Roman"/>
                <a:cs typeface="Times New Roman"/>
              </a:rPr>
              <a:t> использующая </a:t>
            </a:r>
            <a:r>
              <a:rPr lang="en-US" sz="3000" spc="60">
                <a:solidFill>
                  <a:prstClr val="white"/>
                </a:solidFill>
                <a:latin typeface="Times New Roman"/>
                <a:cs typeface="Times New Roman"/>
              </a:rPr>
              <a:t>SQL</a:t>
            </a:r>
            <a:r>
              <a:rPr lang="ru-RU" sz="3000" spc="60">
                <a:solidFill>
                  <a:prstClr val="white"/>
                </a:solidFill>
                <a:latin typeface="Times New Roman"/>
                <a:cs typeface="Times New Roman"/>
              </a:rPr>
              <a:t> базу</a:t>
            </a:r>
            <a:endParaRPr sz="3000" b="0" i="0" u="none" strike="noStrike" cap="none" spc="60">
              <a:ln>
                <a:noFill/>
              </a:ln>
              <a:solidFill>
                <a:prstClr val="white"/>
              </a:solidFill>
              <a:latin typeface="Times New Roman"/>
              <a:cs typeface="Times New Roman"/>
            </a:endParaRPr>
          </a:p>
        </p:txBody>
      </p:sp>
      <p:sp>
        <p:nvSpPr>
          <p:cNvPr id="734771587" name="TextBox 20"/>
          <p:cNvSpPr txBox="1"/>
          <p:nvPr/>
        </p:nvSpPr>
        <p:spPr bwMode="auto">
          <a:xfrm>
            <a:off x="4152681" y="7829550"/>
            <a:ext cx="12754599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200" b="0" i="0" u="none" strike="noStrike" cap="none" spc="-84">
                <a:ln>
                  <a:noFill/>
                </a:ln>
                <a:solidFill>
                  <a:prstClr val="white"/>
                </a:solidFill>
                <a:latin typeface="Times New Roman"/>
                <a:cs typeface="Times New Roman"/>
              </a:rPr>
              <a:t>SPINNER</a:t>
            </a:r>
            <a:endParaRPr/>
          </a:p>
        </p:txBody>
      </p:sp>
      <p:sp>
        <p:nvSpPr>
          <p:cNvPr id="1168769044" name="TextBox 21"/>
          <p:cNvSpPr txBox="1"/>
          <p:nvPr/>
        </p:nvSpPr>
        <p:spPr bwMode="auto">
          <a:xfrm>
            <a:off x="4131628" y="8557783"/>
            <a:ext cx="12754959" cy="1067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000" b="0" i="0" u="none" strike="noStrike" cap="none" spc="6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Использовани</a:t>
            </a:r>
            <a:r>
              <a:rPr lang="ru-RU" sz="3000" b="0" i="0" u="none" strike="noStrike" cap="none" spc="60">
                <a:ln>
                  <a:noFill/>
                </a:ln>
                <a:solidFill>
                  <a:prstClr val="white"/>
                </a:solidFill>
                <a:latin typeface="Times New Roman"/>
                <a:cs typeface="Times New Roman"/>
              </a:rPr>
              <a:t>е при регистрации для выбора варианта входа</a:t>
            </a:r>
            <a:endParaRPr lang="en-US" sz="3000" b="0" i="0" u="none" strike="noStrike" cap="none" spc="59">
              <a:ln>
                <a:noFill/>
              </a:ln>
              <a:solidFill>
                <a:prstClr val="white"/>
              </a:solidFill>
              <a:latin typeface="Times New Roman"/>
              <a:cs typeface="Times New Roman"/>
            </a:endParaRPr>
          </a:p>
          <a:p>
            <a:pPr marL="0" marR="0" lvl="0" indent="0" algn="l" defTabSz="457200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prstClr val="white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F0F0E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 bwMode="auto">
          <a:xfrm>
            <a:off x="661355" y="1197861"/>
            <a:ext cx="14058788" cy="1676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600"/>
              </a:lnSpc>
              <a:defRPr/>
            </a:pPr>
            <a:r>
              <a:rPr lang="en-US" sz="8800" spc="-175">
                <a:solidFill>
                  <a:schemeClr val="bg1"/>
                </a:solidFill>
                <a:latin typeface="HK Grotesk Bold"/>
              </a:rPr>
              <a:t>Главное окно</a:t>
            </a:r>
            <a:endParaRPr>
              <a:solidFill>
                <a:schemeClr val="bg1"/>
              </a:solidFill>
            </a:endParaRPr>
          </a:p>
          <a:p>
            <a:pPr>
              <a:lnSpc>
                <a:spcPts val="6600"/>
              </a:lnSpc>
              <a:defRPr/>
            </a:pPr>
            <a:r>
              <a:rPr lang="en-US" sz="8800" spc="-175">
                <a:solidFill>
                  <a:schemeClr val="bg1"/>
                </a:solidFill>
                <a:latin typeface="HK Grotesk Bold"/>
              </a:rPr>
              <a:t>программы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7" name="TextBox 7"/>
          <p:cNvSpPr txBox="1"/>
          <p:nvPr/>
        </p:nvSpPr>
        <p:spPr bwMode="auto">
          <a:xfrm flipH="0" flipV="0">
            <a:off x="264783" y="7044595"/>
            <a:ext cx="5627185" cy="3151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35"/>
              </a:lnSpc>
              <a:defRPr/>
            </a:pPr>
            <a:r>
              <a:rPr lang="en-US" sz="3200">
                <a:solidFill>
                  <a:srgbClr val="17242D"/>
                </a:solidFill>
                <a:latin typeface="HK Grotesk Light Bold"/>
              </a:rPr>
              <a:t>Простота интерфейса способствует </a:t>
            </a:r>
            <a:endParaRPr/>
          </a:p>
          <a:p>
            <a:pPr>
              <a:lnSpc>
                <a:spcPts val="4135"/>
              </a:lnSpc>
              <a:defRPr/>
            </a:pPr>
            <a:r>
              <a:rPr lang="en-US" sz="3200">
                <a:solidFill>
                  <a:srgbClr val="17242D"/>
                </a:solidFill>
                <a:latin typeface="HK Grotesk Light Bold"/>
              </a:rPr>
              <a:t>взаимодействию пользователя с информацией</a:t>
            </a:r>
            <a:endParaRPr/>
          </a:p>
          <a:p>
            <a:pPr>
              <a:lnSpc>
                <a:spcPts val="4135"/>
              </a:lnSpc>
              <a:defRPr/>
            </a:pPr>
            <a:endParaRPr/>
          </a:p>
        </p:txBody>
      </p:sp>
      <p:grpSp>
        <p:nvGrpSpPr>
          <p:cNvPr id="9" name="Group 9"/>
          <p:cNvGrpSpPr/>
          <p:nvPr/>
        </p:nvGrpSpPr>
        <p:grpSpPr bwMode="auto">
          <a:xfrm rot="-5400000">
            <a:off x="-1215158" y="1835972"/>
            <a:ext cx="3016856" cy="435217"/>
            <a:chOff x="0" y="0"/>
            <a:chExt cx="3961550" cy="571500"/>
          </a:xfrm>
        </p:grpSpPr>
        <p:sp>
          <p:nvSpPr>
            <p:cNvPr id="10" name="Freeform 10"/>
            <p:cNvSpPr/>
            <p:nvPr/>
          </p:nvSpPr>
          <p:spPr bwMode="auto">
            <a:xfrm>
              <a:off x="0" y="255270"/>
              <a:ext cx="3961550" cy="69850"/>
            </a:xfrm>
            <a:custGeom>
              <a:avLst/>
              <a:gdLst/>
              <a:ahLst/>
              <a:cxnLst/>
              <a:rect l="l" t="t" r="r" b="b"/>
              <a:pathLst>
                <a:path w="3961550" h="69850" fill="norm" stroke="1" extrusionOk="0">
                  <a:moveTo>
                    <a:pt x="367072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961550" y="69850"/>
                  </a:lnTo>
                  <a:lnTo>
                    <a:pt x="3961550" y="0"/>
                  </a:lnTo>
                  <a:close/>
                </a:path>
              </a:pathLst>
            </a:custGeom>
            <a:solidFill>
              <a:srgbClr val="393839"/>
            </a:solidFill>
          </p:spPr>
          <p:txBody>
            <a:bodyPr/>
            <a:p>
              <a:pPr>
                <a:defRPr/>
              </a:pPr>
              <a:endParaRPr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Group 11"/>
          <p:cNvGrpSpPr/>
          <p:nvPr/>
        </p:nvGrpSpPr>
        <p:grpSpPr bwMode="auto">
          <a:xfrm>
            <a:off x="293270" y="327544"/>
            <a:ext cx="2430370" cy="386455"/>
            <a:chOff x="0" y="0"/>
            <a:chExt cx="3594100" cy="571500"/>
          </a:xfrm>
        </p:grpSpPr>
        <p:sp>
          <p:nvSpPr>
            <p:cNvPr id="12" name="Freeform 12"/>
            <p:cNvSpPr/>
            <p:nvPr/>
          </p:nvSpPr>
          <p:spPr bwMode="auto">
            <a:xfrm>
              <a:off x="0" y="255270"/>
              <a:ext cx="3594100" cy="69850"/>
            </a:xfrm>
            <a:custGeom>
              <a:avLst/>
              <a:gdLst/>
              <a:ahLst/>
              <a:cxnLst/>
              <a:rect l="l" t="t" r="r" b="b"/>
              <a:pathLst>
                <a:path w="3594100" h="69850" fill="norm" stroke="1" extrusionOk="0">
                  <a:moveTo>
                    <a:pt x="330327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594100" y="69850"/>
                  </a:lnTo>
                  <a:lnTo>
                    <a:pt x="3594100" y="0"/>
                  </a:lnTo>
                  <a:close/>
                </a:path>
              </a:pathLst>
            </a:custGeom>
            <a:solidFill>
              <a:srgbClr val="393839"/>
            </a:solidFill>
          </p:spPr>
          <p:txBody>
            <a:bodyPr/>
            <a:p>
              <a:pPr>
                <a:defRPr/>
              </a:pPr>
              <a:endParaRPr>
                <a:solidFill>
                  <a:schemeClr val="bg1"/>
                </a:solidFill>
              </a:endParaRPr>
            </a:p>
          </p:txBody>
        </p:sp>
      </p:grpSp>
      <p:sp>
        <p:nvSpPr>
          <p:cNvPr id="16" name="TextBox 16"/>
          <p:cNvSpPr txBox="1"/>
          <p:nvPr/>
        </p:nvSpPr>
        <p:spPr bwMode="auto">
          <a:xfrm>
            <a:off x="661355" y="2962845"/>
            <a:ext cx="7363827" cy="61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17"/>
              </a:lnSpc>
              <a:defRPr/>
            </a:pPr>
            <a:r>
              <a:rPr lang="en-US" sz="3700" spc="1260">
                <a:solidFill>
                  <a:schemeClr val="bg1"/>
                </a:solidFill>
                <a:latin typeface="HK Grotesk Light Bold"/>
              </a:rPr>
              <a:t>включает в себя: 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7" name="TextBox 17"/>
          <p:cNvSpPr txBox="1"/>
          <p:nvPr/>
        </p:nvSpPr>
        <p:spPr bwMode="auto">
          <a:xfrm>
            <a:off x="661355" y="3678669"/>
            <a:ext cx="6859547" cy="113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  <a:defRPr/>
            </a:pPr>
            <a:r>
              <a:rPr lang="en-US" sz="3450">
                <a:solidFill>
                  <a:schemeClr val="bg1"/>
                </a:solidFill>
                <a:latin typeface="HK Grotesk Light"/>
              </a:rPr>
              <a:t>меню для навигации по производству мебели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1754214290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294192" y="852786"/>
            <a:ext cx="3683187" cy="82277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297418" name="TextBox 3"/>
          <p:cNvSpPr txBox="1"/>
          <p:nvPr/>
        </p:nvSpPr>
        <p:spPr bwMode="auto">
          <a:xfrm>
            <a:off x="679287" y="1999197"/>
            <a:ext cx="5569474" cy="33531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8800" spc="-175">
                <a:solidFill>
                  <a:schemeClr val="bg1"/>
                </a:solidFill>
                <a:latin typeface="Times New Roman"/>
                <a:cs typeface="Times New Roman"/>
              </a:rPr>
              <a:t>П</a:t>
            </a:r>
            <a:r>
              <a:rPr lang="en-US" sz="8800" b="0" i="0" u="none" strike="noStrike" cap="none" spc="-175">
                <a:ln>
                  <a:noFill/>
                </a:ln>
                <a:solidFill>
                  <a:schemeClr val="bg1"/>
                </a:solidFill>
                <a:latin typeface="Times New Roman"/>
                <a:cs typeface="Times New Roman"/>
              </a:rPr>
              <a:t>рограмм</a:t>
            </a:r>
            <a:r>
              <a:rPr lang="ru-RU" sz="8800" b="0" i="0" u="none" strike="noStrike" cap="none" spc="-175">
                <a:ln>
                  <a:noFill/>
                </a:ln>
                <a:solidFill>
                  <a:schemeClr val="bg1"/>
                </a:solidFill>
                <a:latin typeface="Times New Roman"/>
                <a:cs typeface="Times New Roman"/>
              </a:rPr>
              <a:t>а в разных </a:t>
            </a:r>
            <a:r>
              <a:rPr lang="ru-RU" sz="8800" spc="-175">
                <a:solidFill>
                  <a:schemeClr val="bg1"/>
                </a:solidFill>
                <a:latin typeface="Times New Roman"/>
                <a:cs typeface="Times New Roman"/>
              </a:rPr>
              <a:t>у</a:t>
            </a:r>
            <a:r>
              <a:rPr lang="ru-RU" sz="8800" b="0" i="0" u="none" strike="noStrike" cap="none" spc="-175">
                <a:ln>
                  <a:noFill/>
                </a:ln>
                <a:solidFill>
                  <a:schemeClr val="bg1"/>
                </a:solidFill>
                <a:latin typeface="Times New Roman"/>
                <a:cs typeface="Times New Roman"/>
              </a:rPr>
              <a:t>ровнях доступа</a:t>
            </a:r>
            <a:endParaRPr sz="8800" b="0" i="0" u="none" strike="noStrike" cap="none" spc="-175">
              <a:ln>
                <a:noFill/>
              </a:ln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515743045" name="TextBox 7"/>
          <p:cNvSpPr txBox="1"/>
          <p:nvPr/>
        </p:nvSpPr>
        <p:spPr bwMode="auto">
          <a:xfrm>
            <a:off x="647910" y="8860249"/>
            <a:ext cx="10373271" cy="157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Простота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интерфейса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способствует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endParaRPr>
              <a:solidFill>
                <a:schemeClr val="tx1"/>
              </a:solidFill>
            </a:endParaRPr>
          </a:p>
          <a:p>
            <a:pPr marL="0" marR="0" lvl="0" indent="0" algn="l" defTabSz="457200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взаимодействию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пользователя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 с 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информацией</a:t>
            </a:r>
            <a:endParaRPr sz="3200" b="0" i="0" u="none" strike="noStrike" cap="none" spc="0">
              <a:ln>
                <a:noFill/>
              </a:ln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marR="0" lvl="0" indent="0" algn="l" defTabSz="457200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406618709" name="TextBox 7"/>
          <p:cNvSpPr txBox="1"/>
          <p:nvPr/>
        </p:nvSpPr>
        <p:spPr bwMode="auto">
          <a:xfrm>
            <a:off x="679287" y="5399539"/>
            <a:ext cx="5950474" cy="1050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200">
                <a:solidFill>
                  <a:schemeClr val="bg1"/>
                </a:solidFill>
                <a:latin typeface="Times New Roman"/>
                <a:cs typeface="Times New Roman"/>
              </a:rPr>
              <a:t>Разный функционал для разных ролей</a:t>
            </a:r>
            <a:endParaRPr sz="1800" b="0" i="0" u="none" strike="noStrike" cap="none" spc="0">
              <a:ln>
                <a:noFill/>
              </a:ln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1610206519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824390" y="952500"/>
            <a:ext cx="3686984" cy="8236195"/>
          </a:xfrm>
          <a:prstGeom prst="rect">
            <a:avLst/>
          </a:prstGeom>
        </p:spPr>
      </p:pic>
      <p:pic>
        <p:nvPicPr>
          <p:cNvPr id="8648124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11374" y="952500"/>
            <a:ext cx="3686984" cy="8236195"/>
          </a:xfrm>
          <a:prstGeom prst="rect">
            <a:avLst/>
          </a:prstGeom>
        </p:spPr>
      </p:pic>
      <p:pic>
        <p:nvPicPr>
          <p:cNvPr id="9789418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29654" y="952500"/>
            <a:ext cx="3694736" cy="82535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633914" name="TextBox 3"/>
          <p:cNvSpPr txBox="1"/>
          <p:nvPr/>
        </p:nvSpPr>
        <p:spPr bwMode="auto">
          <a:xfrm>
            <a:off x="679286" y="1999197"/>
            <a:ext cx="6507562" cy="1676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8800" b="0" i="0" u="none" strike="noStrike" cap="none" spc="-175">
                <a:ln>
                  <a:noFill/>
                </a:ln>
                <a:solidFill>
                  <a:schemeClr val="bg1"/>
                </a:solidFill>
                <a:latin typeface="Times New Roman"/>
                <a:cs typeface="Times New Roman"/>
              </a:rPr>
              <a:t>Просмотр Типов мебели</a:t>
            </a:r>
            <a:endParaRPr sz="8800" b="0" i="0" u="none" strike="noStrike" cap="none" spc="-175">
              <a:ln>
                <a:noFill/>
              </a:ln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2023031322" name="TextBox 7"/>
          <p:cNvSpPr txBox="1"/>
          <p:nvPr/>
        </p:nvSpPr>
        <p:spPr bwMode="auto">
          <a:xfrm>
            <a:off x="647910" y="8860249"/>
            <a:ext cx="10373271" cy="157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Простота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интерфейса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способствует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endParaRPr>
              <a:solidFill>
                <a:schemeClr val="tx1"/>
              </a:solidFill>
            </a:endParaRPr>
          </a:p>
          <a:p>
            <a:pPr marL="0" marR="0" lvl="0" indent="0" algn="l" defTabSz="457200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взаимодействию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пользователя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 с 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информацией</a:t>
            </a:r>
            <a:endParaRPr sz="3200" b="0" i="0" u="none" strike="noStrike" cap="none" spc="0">
              <a:ln>
                <a:noFill/>
              </a:ln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marR="0" lvl="0" indent="0" algn="l" defTabSz="457200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205358992" name="TextBox 7"/>
          <p:cNvSpPr txBox="1"/>
          <p:nvPr/>
        </p:nvSpPr>
        <p:spPr bwMode="auto">
          <a:xfrm>
            <a:off x="679286" y="3690526"/>
            <a:ext cx="5951913" cy="525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2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mes New Roman"/>
                <a:cs typeface="Times New Roman"/>
              </a:rPr>
              <a:t>Обычный список с поиском</a:t>
            </a:r>
            <a:endParaRPr sz="1800" b="0" i="0" u="none" strike="noStrike" cap="none" spc="0">
              <a:ln>
                <a:noFill/>
              </a:ln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1854231030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429874" y="142874"/>
            <a:ext cx="4342097" cy="9699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849000" name="TextBox 3"/>
          <p:cNvSpPr txBox="1"/>
          <p:nvPr/>
        </p:nvSpPr>
        <p:spPr bwMode="auto">
          <a:xfrm>
            <a:off x="679286" y="1485900"/>
            <a:ext cx="6501803" cy="1676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8800" b="0" i="0" u="none" strike="noStrike" cap="none" spc="-175">
                <a:ln>
                  <a:noFill/>
                </a:ln>
                <a:solidFill>
                  <a:schemeClr val="bg1"/>
                </a:solidFill>
                <a:latin typeface="Times New Roman"/>
                <a:cs typeface="Times New Roman"/>
              </a:rPr>
              <a:t>Добавление элементов</a:t>
            </a:r>
            <a:endParaRPr sz="8800" b="0" i="0" u="none" strike="noStrike" cap="none" spc="-175">
              <a:ln>
                <a:noFill/>
              </a:ln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588757839" name="TextBox 7"/>
          <p:cNvSpPr txBox="1"/>
          <p:nvPr/>
        </p:nvSpPr>
        <p:spPr bwMode="auto">
          <a:xfrm>
            <a:off x="457200" y="7906302"/>
            <a:ext cx="5950834" cy="26260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Простота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интерфейса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способствует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endParaRPr>
              <a:solidFill>
                <a:schemeClr val="tx1"/>
              </a:solidFill>
            </a:endParaRPr>
          </a:p>
          <a:p>
            <a:pPr marL="0" marR="0" lvl="0" indent="0" algn="l" defTabSz="457200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взаимодействию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пользователя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 с 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информацией</a:t>
            </a:r>
            <a:endParaRPr sz="3200" b="0" i="0" u="none" strike="noStrike" cap="none" spc="0">
              <a:ln>
                <a:noFill/>
              </a:ln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marR="0" lvl="0" indent="0" algn="l" defTabSz="457200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88806481" name="TextBox 7"/>
          <p:cNvSpPr txBox="1"/>
          <p:nvPr/>
        </p:nvSpPr>
        <p:spPr bwMode="auto">
          <a:xfrm>
            <a:off x="647910" y="3303141"/>
            <a:ext cx="5950474" cy="1138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  <a:defRPr/>
            </a:pPr>
            <a:r>
              <a:rPr lang="ru-RU" sz="3200">
                <a:solidFill>
                  <a:schemeClr val="bg1"/>
                </a:solidFill>
                <a:latin typeface="Times New Roman"/>
                <a:cs typeface="Times New Roman"/>
              </a:rPr>
              <a:t>Возможность добавлять удалять изменять элементы таблиц</a:t>
            </a:r>
            <a:endParaRPr sz="32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1512981972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6858000" y="1537146"/>
            <a:ext cx="3160749" cy="7060663"/>
          </a:xfrm>
          <a:prstGeom prst="rect">
            <a:avLst/>
          </a:prstGeom>
        </p:spPr>
      </p:pic>
      <p:pic>
        <p:nvPicPr>
          <p:cNvPr id="12594619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37774" y="1931292"/>
            <a:ext cx="2468599" cy="5514499"/>
          </a:xfrm>
          <a:prstGeom prst="rect">
            <a:avLst/>
          </a:prstGeom>
        </p:spPr>
      </p:pic>
      <p:pic>
        <p:nvPicPr>
          <p:cNvPr id="48911951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2766675" y="1086218"/>
            <a:ext cx="2494396" cy="5572125"/>
          </a:xfrm>
          <a:prstGeom prst="rect">
            <a:avLst/>
          </a:prstGeom>
        </p:spPr>
      </p:pic>
      <p:pic>
        <p:nvPicPr>
          <p:cNvPr id="137935258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15395574" y="1086218"/>
            <a:ext cx="2643633" cy="5905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790473" name="TextBox 3"/>
          <p:cNvSpPr txBox="1"/>
          <p:nvPr/>
        </p:nvSpPr>
        <p:spPr bwMode="auto">
          <a:xfrm>
            <a:off x="679286" y="1999197"/>
            <a:ext cx="6501803" cy="1676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8800" b="0" i="0" u="none" strike="noStrike" cap="none" spc="-175">
                <a:ln>
                  <a:noFill/>
                </a:ln>
                <a:solidFill>
                  <a:schemeClr val="bg1"/>
                </a:solidFill>
                <a:latin typeface="Times New Roman"/>
                <a:cs typeface="Times New Roman"/>
              </a:rPr>
              <a:t>Соединение логики</a:t>
            </a:r>
            <a:endParaRPr sz="8800" b="0" i="0" u="none" strike="noStrike" cap="none" spc="-175">
              <a:ln>
                <a:noFill/>
              </a:ln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697487968" name="TextBox 7"/>
          <p:cNvSpPr txBox="1"/>
          <p:nvPr/>
        </p:nvSpPr>
        <p:spPr bwMode="auto">
          <a:xfrm>
            <a:off x="647910" y="8860249"/>
            <a:ext cx="10373271" cy="157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Простота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интерфейса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способствует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endParaRPr>
              <a:solidFill>
                <a:schemeClr val="tx1"/>
              </a:solidFill>
            </a:endParaRPr>
          </a:p>
          <a:p>
            <a:pPr marL="0" marR="0" lvl="0" indent="0" algn="l" defTabSz="457200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взаимодействию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пользователя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 с </a:t>
            </a:r>
            <a:r>
              <a:rPr lang="en-US" sz="3200" b="0" i="0" u="none" strike="noStrike" cap="none" spc="0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информацией</a:t>
            </a:r>
            <a:endParaRPr sz="3200" b="0" i="0" u="none" strike="noStrike" cap="none" spc="0">
              <a:ln>
                <a:noFill/>
              </a:ln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marR="0" lvl="0" indent="0" algn="l" defTabSz="457200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grpSp>
        <p:nvGrpSpPr>
          <p:cNvPr id="636747583" name="Group 9"/>
          <p:cNvGrpSpPr/>
          <p:nvPr/>
        </p:nvGrpSpPr>
        <p:grpSpPr bwMode="auto">
          <a:xfrm rot="-5400000">
            <a:off x="-1215158" y="1835972"/>
            <a:ext cx="3016856" cy="435217"/>
            <a:chOff x="0" y="0"/>
            <a:chExt cx="3961550" cy="571500"/>
          </a:xfrm>
        </p:grpSpPr>
        <p:sp>
          <p:nvSpPr>
            <p:cNvPr id="1704107162" name="Freeform 10"/>
            <p:cNvSpPr/>
            <p:nvPr/>
          </p:nvSpPr>
          <p:spPr bwMode="auto">
            <a:xfrm>
              <a:off x="0" y="255270"/>
              <a:ext cx="3961550" cy="69850"/>
            </a:xfrm>
            <a:custGeom>
              <a:avLst/>
              <a:gdLst/>
              <a:ahLst/>
              <a:cxnLst/>
              <a:rect l="l" t="t" r="r" b="b"/>
              <a:pathLst>
                <a:path w="3961550" h="69850" fill="norm" stroke="1" extrusionOk="0">
                  <a:moveTo>
                    <a:pt x="367072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961550" y="69850"/>
                  </a:lnTo>
                  <a:lnTo>
                    <a:pt x="3961550" y="0"/>
                  </a:lnTo>
                  <a:close/>
                </a:path>
              </a:pathLst>
            </a:custGeom>
            <a:solidFill>
              <a:srgbClr val="393839"/>
            </a:solidFill>
          </p:spPr>
          <p:txBody>
            <a:bodyPr/>
            <a:p>
              <a:pPr>
                <a:defRPr/>
              </a:pPr>
              <a:endParaRPr>
                <a:solidFill>
                  <a:schemeClr val="bg1"/>
                </a:solidFill>
              </a:endParaRPr>
            </a:p>
          </p:txBody>
        </p:sp>
      </p:grpSp>
      <p:grpSp>
        <p:nvGrpSpPr>
          <p:cNvPr id="881640098" name="Group 11"/>
          <p:cNvGrpSpPr/>
          <p:nvPr/>
        </p:nvGrpSpPr>
        <p:grpSpPr bwMode="auto">
          <a:xfrm>
            <a:off x="293270" y="327544"/>
            <a:ext cx="2430370" cy="386455"/>
            <a:chOff x="0" y="0"/>
            <a:chExt cx="3594100" cy="571500"/>
          </a:xfrm>
        </p:grpSpPr>
        <p:sp>
          <p:nvSpPr>
            <p:cNvPr id="706221437" name="Freeform 12"/>
            <p:cNvSpPr/>
            <p:nvPr/>
          </p:nvSpPr>
          <p:spPr bwMode="auto">
            <a:xfrm>
              <a:off x="0" y="255270"/>
              <a:ext cx="3594100" cy="69850"/>
            </a:xfrm>
            <a:custGeom>
              <a:avLst/>
              <a:gdLst/>
              <a:ahLst/>
              <a:cxnLst/>
              <a:rect l="l" t="t" r="r" b="b"/>
              <a:pathLst>
                <a:path w="3594100" h="69850" fill="norm" stroke="1" extrusionOk="0">
                  <a:moveTo>
                    <a:pt x="330327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594100" y="69850"/>
                  </a:lnTo>
                  <a:lnTo>
                    <a:pt x="3594100" y="0"/>
                  </a:lnTo>
                  <a:close/>
                </a:path>
              </a:pathLst>
            </a:custGeom>
            <a:solidFill>
              <a:srgbClr val="393839"/>
            </a:solidFill>
          </p:spPr>
          <p:txBody>
            <a:bodyPr/>
            <a:p>
              <a:pPr>
                <a:defRPr/>
              </a:pPr>
              <a:endParaRPr>
                <a:solidFill>
                  <a:schemeClr val="bg1"/>
                </a:solidFill>
              </a:endParaRPr>
            </a:p>
          </p:txBody>
        </p:sp>
      </p:grpSp>
      <p:sp>
        <p:nvSpPr>
          <p:cNvPr id="1332942418" name="TextBox 7"/>
          <p:cNvSpPr txBox="1"/>
          <p:nvPr/>
        </p:nvSpPr>
        <p:spPr bwMode="auto">
          <a:xfrm>
            <a:off x="679286" y="3690526"/>
            <a:ext cx="5950474" cy="1138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>
              <a:lnSpc>
                <a:spcPts val="4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2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mes New Roman"/>
                <a:cs typeface="Times New Roman"/>
              </a:rPr>
              <a:t>Назначение преподавателей на специальности</a:t>
            </a:r>
            <a:endParaRPr sz="3200" b="0" i="0" u="none" strike="noStrike" cap="none" spc="0">
              <a:ln>
                <a:noFill/>
              </a:ln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1725474839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779125" y="349249"/>
            <a:ext cx="4377630" cy="9779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F0F0E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 bwMode="auto">
          <a:xfrm rot="-5400000">
            <a:off x="15987961" y="2868492"/>
            <a:ext cx="4114800" cy="435217"/>
            <a:chOff x="0" y="0"/>
            <a:chExt cx="5403302" cy="571500"/>
          </a:xfrm>
        </p:grpSpPr>
        <p:sp>
          <p:nvSpPr>
            <p:cNvPr id="5" name="Freeform 5"/>
            <p:cNvSpPr/>
            <p:nvPr/>
          </p:nvSpPr>
          <p:spPr bwMode="auto">
            <a:xfrm>
              <a:off x="0" y="255270"/>
              <a:ext cx="5403302" cy="69850"/>
            </a:xfrm>
            <a:custGeom>
              <a:avLst/>
              <a:gdLst/>
              <a:ahLst/>
              <a:cxnLst/>
              <a:rect l="l" t="t" r="r" b="b"/>
              <a:pathLst>
                <a:path w="5403302" h="69850" fill="norm" stroke="1" extrusionOk="0">
                  <a:moveTo>
                    <a:pt x="5112472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5403302" y="69850"/>
                  </a:lnTo>
                  <a:lnTo>
                    <a:pt x="540330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 bwMode="auto">
          <a:xfrm>
            <a:off x="1237194" y="2806553"/>
            <a:ext cx="8281254" cy="1420784"/>
            <a:chOff x="0" y="0"/>
            <a:chExt cx="6673555" cy="1144957"/>
          </a:xfrm>
        </p:grpSpPr>
        <p:sp>
          <p:nvSpPr>
            <p:cNvPr id="10" name="Freeform 10"/>
            <p:cNvSpPr/>
            <p:nvPr/>
          </p:nvSpPr>
          <p:spPr bwMode="auto">
            <a:xfrm>
              <a:off x="0" y="0"/>
              <a:ext cx="6673555" cy="1144957"/>
            </a:xfrm>
            <a:custGeom>
              <a:avLst/>
              <a:gdLst/>
              <a:ahLst/>
              <a:cxnLst/>
              <a:rect l="l" t="t" r="r" b="b"/>
              <a:pathLst>
                <a:path w="6673555" h="1144957" fill="norm" stroke="1" extrusionOk="0">
                  <a:moveTo>
                    <a:pt x="6549095" y="1144957"/>
                  </a:moveTo>
                  <a:lnTo>
                    <a:pt x="124460" y="1144957"/>
                  </a:lnTo>
                  <a:cubicBezTo>
                    <a:pt x="55880" y="1144957"/>
                    <a:pt x="0" y="1089077"/>
                    <a:pt x="0" y="102049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549095" y="0"/>
                  </a:lnTo>
                  <a:cubicBezTo>
                    <a:pt x="6617674" y="0"/>
                    <a:pt x="6673555" y="55880"/>
                    <a:pt x="6673555" y="124460"/>
                  </a:cubicBezTo>
                  <a:lnTo>
                    <a:pt x="6673555" y="1020497"/>
                  </a:lnTo>
                  <a:cubicBezTo>
                    <a:pt x="6673555" y="1089077"/>
                    <a:pt x="6617674" y="1144957"/>
                    <a:pt x="6549095" y="11449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622959" y="2803512"/>
            <a:ext cx="1423825" cy="1423825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 bwMode="auto">
          <a:xfrm>
            <a:off x="1237194" y="5051135"/>
            <a:ext cx="8281254" cy="1420784"/>
            <a:chOff x="0" y="0"/>
            <a:chExt cx="6673555" cy="1144957"/>
          </a:xfrm>
        </p:grpSpPr>
        <p:sp>
          <p:nvSpPr>
            <p:cNvPr id="14" name="Freeform 14"/>
            <p:cNvSpPr/>
            <p:nvPr/>
          </p:nvSpPr>
          <p:spPr bwMode="auto">
            <a:xfrm>
              <a:off x="0" y="0"/>
              <a:ext cx="6673555" cy="1144957"/>
            </a:xfrm>
            <a:custGeom>
              <a:avLst/>
              <a:gdLst/>
              <a:ahLst/>
              <a:cxnLst/>
              <a:rect l="l" t="t" r="r" b="b"/>
              <a:pathLst>
                <a:path w="6673555" h="1144957" fill="norm" stroke="1" extrusionOk="0">
                  <a:moveTo>
                    <a:pt x="6549095" y="1144957"/>
                  </a:moveTo>
                  <a:lnTo>
                    <a:pt x="124460" y="1144957"/>
                  </a:lnTo>
                  <a:cubicBezTo>
                    <a:pt x="55880" y="1144957"/>
                    <a:pt x="0" y="1089077"/>
                    <a:pt x="0" y="102049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549095" y="0"/>
                  </a:lnTo>
                  <a:cubicBezTo>
                    <a:pt x="6617674" y="0"/>
                    <a:pt x="6673555" y="55880"/>
                    <a:pt x="6673555" y="124460"/>
                  </a:cubicBezTo>
                  <a:lnTo>
                    <a:pt x="6673555" y="1020497"/>
                  </a:lnTo>
                  <a:cubicBezTo>
                    <a:pt x="6673555" y="1089077"/>
                    <a:pt x="6617674" y="1144957"/>
                    <a:pt x="6549095" y="11449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5" name="TextBox 15"/>
          <p:cNvSpPr txBox="1"/>
          <p:nvPr/>
        </p:nvSpPr>
        <p:spPr bwMode="auto">
          <a:xfrm>
            <a:off x="1575395" y="5297303"/>
            <a:ext cx="7605211" cy="987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87"/>
              </a:lnSpc>
              <a:defRPr/>
            </a:pPr>
            <a:r>
              <a:rPr lang="en-US" sz="3950">
                <a:solidFill>
                  <a:srgbClr val="000000"/>
                </a:solidFill>
                <a:latin typeface="HK Grotesk Light Bold"/>
              </a:rPr>
              <a:t>Расширение</a:t>
            </a:r>
            <a:r>
              <a:rPr lang="en-US" sz="3950">
                <a:solidFill>
                  <a:srgbClr val="000000"/>
                </a:solidFill>
                <a:latin typeface="HK Grotesk Light Bold"/>
              </a:rPr>
              <a:t> </a:t>
            </a:r>
            <a:r>
              <a:rPr lang="en-US" sz="3950">
                <a:solidFill>
                  <a:srgbClr val="000000"/>
                </a:solidFill>
                <a:latin typeface="HK Grotesk Light Bold"/>
              </a:rPr>
              <a:t>функционала</a:t>
            </a:r>
            <a:r>
              <a:rPr lang="en-US" sz="3950">
                <a:solidFill>
                  <a:srgbClr val="000000"/>
                </a:solidFill>
                <a:latin typeface="HK Grotesk Light Bold"/>
              </a:rPr>
              <a:t> </a:t>
            </a:r>
            <a:r>
              <a:rPr lang="en-US" sz="3950">
                <a:solidFill>
                  <a:srgbClr val="000000"/>
                </a:solidFill>
                <a:latin typeface="HK Grotesk Light Bold"/>
              </a:rPr>
              <a:t>настройки</a:t>
            </a:r>
            <a:r>
              <a:rPr lang="en-US" sz="3950">
                <a:solidFill>
                  <a:srgbClr val="000000"/>
                </a:solidFill>
                <a:latin typeface="HK Grotesk Light Bold"/>
              </a:rPr>
              <a:t> </a:t>
            </a:r>
            <a:r>
              <a:rPr lang="en-US" sz="3950">
                <a:solidFill>
                  <a:srgbClr val="000000"/>
                </a:solidFill>
                <a:latin typeface="HK Grotesk Light Bold"/>
              </a:rPr>
              <a:t>интерфейса</a:t>
            </a:r>
            <a:r>
              <a:rPr lang="en-US" sz="3950">
                <a:solidFill>
                  <a:srgbClr val="000000"/>
                </a:solidFill>
                <a:latin typeface="HK Grotesk Light Bold"/>
              </a:rPr>
              <a:t> </a:t>
            </a: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631942" y="5051135"/>
            <a:ext cx="1423825" cy="1423825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 bwMode="auto">
          <a:xfrm>
            <a:off x="1288849" y="7275337"/>
            <a:ext cx="8281254" cy="1420784"/>
            <a:chOff x="0" y="0"/>
            <a:chExt cx="6673555" cy="1144957"/>
          </a:xfrm>
        </p:grpSpPr>
        <p:sp>
          <p:nvSpPr>
            <p:cNvPr id="18" name="Freeform 18"/>
            <p:cNvSpPr/>
            <p:nvPr/>
          </p:nvSpPr>
          <p:spPr bwMode="auto">
            <a:xfrm>
              <a:off x="0" y="0"/>
              <a:ext cx="6673555" cy="1144957"/>
            </a:xfrm>
            <a:custGeom>
              <a:avLst/>
              <a:gdLst/>
              <a:ahLst/>
              <a:cxnLst/>
              <a:rect l="l" t="t" r="r" b="b"/>
              <a:pathLst>
                <a:path w="6673555" h="1144957" fill="norm" stroke="1" extrusionOk="0">
                  <a:moveTo>
                    <a:pt x="6549095" y="1144957"/>
                  </a:moveTo>
                  <a:lnTo>
                    <a:pt x="124460" y="1144957"/>
                  </a:lnTo>
                  <a:cubicBezTo>
                    <a:pt x="55880" y="1144957"/>
                    <a:pt x="0" y="1089077"/>
                    <a:pt x="0" y="102049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549095" y="0"/>
                  </a:lnTo>
                  <a:cubicBezTo>
                    <a:pt x="6617674" y="0"/>
                    <a:pt x="6673555" y="55880"/>
                    <a:pt x="6673555" y="124460"/>
                  </a:cubicBezTo>
                  <a:lnTo>
                    <a:pt x="6673555" y="1020497"/>
                  </a:lnTo>
                  <a:cubicBezTo>
                    <a:pt x="6673555" y="1089077"/>
                    <a:pt x="6617674" y="1144957"/>
                    <a:pt x="6549095" y="11449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622959" y="7284939"/>
            <a:ext cx="1423825" cy="1423825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919023" y="3012519"/>
            <a:ext cx="849663" cy="906307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847334" y="5324672"/>
            <a:ext cx="993040" cy="853456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8806156" y="7594997"/>
            <a:ext cx="1057433" cy="800667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 bwMode="auto">
          <a:xfrm flipH="0" flipV="0">
            <a:off x="465920" y="529094"/>
            <a:ext cx="15728923" cy="100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l">
              <a:lnSpc>
                <a:spcPts val="7888"/>
              </a:lnSpc>
              <a:defRPr/>
            </a:pPr>
            <a:r>
              <a:rPr lang="en-US" sz="9600">
                <a:solidFill>
                  <a:srgbClr val="FFFFFF"/>
                </a:solidFill>
                <a:latin typeface="HK Grotesk Bold"/>
              </a:rPr>
              <a:t>Перспективы разработки</a:t>
            </a:r>
            <a:endParaRPr/>
          </a:p>
        </p:txBody>
      </p:sp>
      <p:sp>
        <p:nvSpPr>
          <p:cNvPr id="24" name="TextBox 24"/>
          <p:cNvSpPr txBox="1"/>
          <p:nvPr/>
        </p:nvSpPr>
        <p:spPr bwMode="auto">
          <a:xfrm>
            <a:off x="1593648" y="2779536"/>
            <a:ext cx="7605211" cy="1481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87"/>
              </a:lnSpc>
              <a:defRPr/>
            </a:pPr>
            <a:r>
              <a:rPr lang="en-US" sz="3950">
                <a:solidFill>
                  <a:srgbClr val="000000"/>
                </a:solidFill>
                <a:latin typeface="HK Grotesk Light Bold"/>
              </a:rPr>
              <a:t>Добавление</a:t>
            </a:r>
            <a:r>
              <a:rPr lang="en-US" sz="3950">
                <a:solidFill>
                  <a:srgbClr val="000000"/>
                </a:solidFill>
                <a:latin typeface="HK Grotesk Light Bold"/>
              </a:rPr>
              <a:t> </a:t>
            </a:r>
            <a:r>
              <a:rPr lang="en-US" sz="3950">
                <a:solidFill>
                  <a:srgbClr val="000000"/>
                </a:solidFill>
                <a:latin typeface="HK Grotesk Light Bold"/>
              </a:rPr>
              <a:t>большего</a:t>
            </a:r>
            <a:r>
              <a:rPr lang="en-US" sz="3950">
                <a:solidFill>
                  <a:srgbClr val="000000"/>
                </a:solidFill>
                <a:latin typeface="HK Grotesk Light Bold"/>
              </a:rPr>
              <a:t> </a:t>
            </a:r>
            <a:r>
              <a:rPr lang="en-US" sz="3950">
                <a:solidFill>
                  <a:srgbClr val="000000"/>
                </a:solidFill>
                <a:latin typeface="HK Grotesk Light Bold"/>
              </a:rPr>
              <a:t>функционала</a:t>
            </a:r>
            <a:r>
              <a:rPr lang="ru-RU" sz="3950">
                <a:solidFill>
                  <a:srgbClr val="000000"/>
                </a:solidFill>
                <a:latin typeface="HK Grotesk Light Bold"/>
              </a:rPr>
              <a:t>, синхронизация через интернет</a:t>
            </a:r>
            <a:endParaRPr lang="en-US" sz="3950">
              <a:solidFill>
                <a:srgbClr val="000000"/>
              </a:solidFill>
              <a:latin typeface="HK Grotesk Light Bold"/>
            </a:endParaRPr>
          </a:p>
        </p:txBody>
      </p:sp>
      <p:sp>
        <p:nvSpPr>
          <p:cNvPr id="25" name="TextBox 25"/>
          <p:cNvSpPr txBox="1"/>
          <p:nvPr/>
        </p:nvSpPr>
        <p:spPr bwMode="auto">
          <a:xfrm>
            <a:off x="1517449" y="7351535"/>
            <a:ext cx="7605211" cy="987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87"/>
              </a:lnSpc>
              <a:defRPr/>
            </a:pPr>
            <a:r>
              <a:rPr lang="en-US" sz="3950">
                <a:solidFill>
                  <a:srgbClr val="000000"/>
                </a:solidFill>
                <a:latin typeface="HK Grotesk Light Bold"/>
              </a:rPr>
              <a:t>Оптимизация</a:t>
            </a:r>
            <a:r>
              <a:rPr lang="en-US" sz="3950">
                <a:solidFill>
                  <a:srgbClr val="000000"/>
                </a:solidFill>
                <a:latin typeface="HK Grotesk Light Bold"/>
              </a:rPr>
              <a:t> </a:t>
            </a:r>
            <a:r>
              <a:rPr lang="en-US" sz="3950">
                <a:solidFill>
                  <a:srgbClr val="000000"/>
                </a:solidFill>
                <a:latin typeface="HK Grotesk Light Bold"/>
              </a:rPr>
              <a:t>кода</a:t>
            </a:r>
            <a:r>
              <a:rPr lang="ru-RU" sz="3950">
                <a:solidFill>
                  <a:srgbClr val="000000"/>
                </a:solidFill>
                <a:latin typeface="HK Grotesk Light Bold"/>
              </a:rPr>
              <a:t>, редактирование базы данных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Классическая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>Произвольный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Frosted Music Brand Guidelines Presentation</dc:title>
  <dc:subject/>
  <dc:creator>pr305a01</dc:creator>
  <cp:keywords/>
  <dc:description/>
  <dc:identifier>DADq6QgwR64</dc:identifier>
  <dc:language/>
  <cp:lastModifiedBy>Рома Шенгальс</cp:lastModifiedBy>
  <cp:revision>8</cp:revision>
  <dcterms:created xsi:type="dcterms:W3CDTF">2006-08-16T00:00:00Z</dcterms:created>
  <dcterms:modified xsi:type="dcterms:W3CDTF">2025-12-26T02:08:39Z</dcterms:modified>
  <cp:category/>
  <cp:contentStatus/>
  <cp:version/>
</cp:coreProperties>
</file>